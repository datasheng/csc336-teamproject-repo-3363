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embeddedFontLst>
    <p:embeddedFont>
      <p:font typeface="IBM Plex Sans" panose="020B0503050203000203" pitchFamily="34" charset="0"/>
      <p:regular r:id="rId20"/>
      <p:bold r:id="rId21"/>
      <p:italic r:id="rId22"/>
      <p:boldItalic r:id="rId23"/>
    </p:embeddedFont>
    <p:embeddedFont>
      <p:font typeface="Lexend" panose="02010600030101010101" charset="0"/>
      <p:regular r:id="rId24"/>
      <p:bold r:id="rId25"/>
    </p:embeddedFont>
    <p:embeddedFont>
      <p:font typeface="Lexend Medium" panose="02010600030101010101" charset="0"/>
      <p:regular r:id="rId26"/>
      <p:bold r:id="rId27"/>
    </p:embeddedFont>
    <p:embeddedFont>
      <p:font typeface="Lexend SemiBold" pitchFamily="2" charset="0"/>
      <p:regular r:id="rId28"/>
      <p:bold r:id="rId29"/>
    </p:embeddedFont>
    <p:embeddedFont>
      <p:font typeface="Sora" panose="02010600030101010101" charset="0"/>
      <p:regular r:id="rId30"/>
      <p:bold r:id="rId31"/>
    </p:embeddedFont>
    <p:embeddedFont>
      <p:font typeface="Sora SemiBold" panose="02010600030101010101" charset="0"/>
      <p:regular r:id="rId32"/>
      <p:bold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8" roundtripDataSignature="AMtx7mjXcHOKWFoGLwJp8gYgAlaTm6bL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8" d="100"/>
          <a:sy n="118" d="100"/>
        </p:scale>
        <p:origin x="1738" y="10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9" Type="http://schemas.openxmlformats.org/officeDocument/2006/relationships/presProps" Target="presProps.xml"/><Relationship Id="rId21" Type="http://schemas.openxmlformats.org/officeDocument/2006/relationships/font" Target="fonts/font2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028dc592c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2" name="Google Shape;92;g3b028dc592c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dfa6bd339_1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7" name="Google Shape;117;g3adfa6bd339_1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dfa6bd339_1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5" name="Google Shape;135;g3adfa6bd339_1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dfa6bd339_1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147" name="Google Shape;147;g3adfa6bd339_1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dfa6bd339_1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6" name="Google Shape;176;g3adfa6bd339_1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7" name="Google Shape;18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eaee75853_1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6" name="Google Shape;196;g3aeaee75853_1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205" name="Google Shape;20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213" name="Google Shape;2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5" name="Google Shape;22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eaee75853_1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7" name="Google Shape;237;g3aeaee75853_1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aeaee75853_1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248" name="Google Shape;248;g3aeaee75853_1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aeaee75853_1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262" name="Google Shape;262;g3aeaee75853_1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ac886822b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276" name="Google Shape;276;g3ac886822b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7" name="Google Shape;28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0" name="Google Shape;30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7" name="Google Shape;27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8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0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2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20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9" name="Google Shape;49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gif"/><Relationship Id="rId10" Type="http://schemas.openxmlformats.org/officeDocument/2006/relationships/image" Target="../media/image12.png"/><Relationship Id="rId4" Type="http://schemas.openxmlformats.org/officeDocument/2006/relationships/image" Target="../media/image6.gif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 l="18709" r="29429" b="2747"/>
          <a:stretch/>
        </p:blipFill>
        <p:spPr>
          <a:xfrm>
            <a:off x="2642616" y="10"/>
            <a:ext cx="6501384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/>
          <p:nvPr/>
        </p:nvSpPr>
        <p:spPr>
          <a:xfrm>
            <a:off x="0" y="0"/>
            <a:ext cx="7317450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7254"/>
                </a:srgbClr>
              </a:gs>
              <a:gs pos="35000">
                <a:srgbClr val="FFFFFF">
                  <a:alpha val="78431"/>
                </a:srgbClr>
              </a:gs>
              <a:gs pos="58000">
                <a:schemeClr val="lt1"/>
              </a:gs>
              <a:gs pos="100000">
                <a:schemeClr val="lt1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>
            <a:spLocks noGrp="1"/>
          </p:cNvSpPr>
          <p:nvPr>
            <p:ph type="ctrTitle"/>
          </p:nvPr>
        </p:nvSpPr>
        <p:spPr>
          <a:xfrm>
            <a:off x="358475" y="2681825"/>
            <a:ext cx="6501300" cy="16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4000"/>
              <a:buFont typeface="Calibri"/>
              <a:buNone/>
            </a:pPr>
            <a:endParaRPr sz="25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6056"/>
              <a:buFont typeface="Calibri"/>
              <a:buNone/>
            </a:pPr>
            <a:r>
              <a:rPr lang="en-US" sz="4733" b="1" dirty="0" err="1">
                <a:solidFill>
                  <a:srgbClr val="6FA8DC"/>
                </a:solidFill>
              </a:rPr>
              <a:t>SnapEats</a:t>
            </a:r>
            <a:endParaRPr sz="4733" b="1" dirty="0">
              <a:solidFill>
                <a:srgbClr val="6FA8DC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4000"/>
              <a:buFont typeface="Calibri"/>
              <a:buNone/>
            </a:pPr>
            <a:r>
              <a:rPr lang="en-US" sz="2500" dirty="0"/>
              <a:t>A Local Restaurant Ordering</a:t>
            </a:r>
            <a:endParaRPr sz="25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4000"/>
              <a:buFont typeface="Calibri"/>
              <a:buNone/>
            </a:pPr>
            <a:r>
              <a:rPr lang="en-US" sz="2500" dirty="0"/>
              <a:t>and Delivery System</a:t>
            </a:r>
            <a:endParaRPr b="1" dirty="0">
              <a:solidFill>
                <a:srgbClr val="6FA8DC"/>
              </a:solidFill>
            </a:endParaRPr>
          </a:p>
        </p:txBody>
      </p:sp>
      <p:sp>
        <p:nvSpPr>
          <p:cNvPr id="88" name="Google Shape;88;p1"/>
          <p:cNvSpPr txBox="1">
            <a:spLocks noGrp="1"/>
          </p:cNvSpPr>
          <p:nvPr>
            <p:ph type="subTitle" idx="1"/>
          </p:nvPr>
        </p:nvSpPr>
        <p:spPr>
          <a:xfrm>
            <a:off x="360775" y="4724425"/>
            <a:ext cx="4060800" cy="20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573"/>
              <a:buNone/>
            </a:pPr>
            <a:r>
              <a:rPr lang="en-US" sz="1672">
                <a:solidFill>
                  <a:srgbClr val="434343"/>
                </a:solidFill>
              </a:rPr>
              <a:t>CCNY - CSC 336 Intro to Database System</a:t>
            </a:r>
            <a:endParaRPr sz="1672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573"/>
              <a:buNone/>
            </a:pPr>
            <a:r>
              <a:rPr lang="en-US" sz="1672">
                <a:solidFill>
                  <a:srgbClr val="434343"/>
                </a:solidFill>
              </a:rPr>
              <a:t>Group 3363</a:t>
            </a:r>
            <a:endParaRPr sz="1672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573"/>
              <a:buNone/>
            </a:pPr>
            <a:endParaRPr sz="1672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None/>
            </a:pPr>
            <a:r>
              <a:rPr lang="en-US" sz="1672">
                <a:solidFill>
                  <a:srgbClr val="434343"/>
                </a:solidFill>
              </a:rPr>
              <a:t>Fatoumata Drammeh</a:t>
            </a:r>
            <a:endParaRPr sz="1672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None/>
            </a:pPr>
            <a:r>
              <a:rPr lang="en-US" sz="1672">
                <a:solidFill>
                  <a:srgbClr val="434343"/>
                </a:solidFill>
              </a:rPr>
              <a:t>David Girgis</a:t>
            </a:r>
            <a:endParaRPr sz="1672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573"/>
              <a:buFont typeface="Arial"/>
              <a:buNone/>
            </a:pPr>
            <a:r>
              <a:rPr lang="en-US" sz="1672">
                <a:solidFill>
                  <a:srgbClr val="434343"/>
                </a:solidFill>
              </a:rPr>
              <a:t>Md Mamun</a:t>
            </a:r>
            <a:endParaRPr sz="1672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None/>
            </a:pPr>
            <a:r>
              <a:rPr lang="en-US" sz="1672">
                <a:solidFill>
                  <a:srgbClr val="434343"/>
                </a:solidFill>
              </a:rPr>
              <a:t>Oumar Kante</a:t>
            </a:r>
            <a:endParaRPr sz="1672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US" sz="1672">
                <a:solidFill>
                  <a:srgbClr val="434343"/>
                </a:solidFill>
              </a:rPr>
              <a:t>Qiuming Wang</a:t>
            </a:r>
            <a:endParaRPr sz="1672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573"/>
              <a:buNone/>
            </a:pPr>
            <a:r>
              <a:rPr lang="en-US" sz="1672">
                <a:solidFill>
                  <a:srgbClr val="434343"/>
                </a:solidFill>
              </a:rPr>
              <a:t>Xinhang Yang</a:t>
            </a:r>
            <a:endParaRPr sz="1672">
              <a:solidFill>
                <a:srgbClr val="434343"/>
              </a:solidFill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360771" y="4546920"/>
            <a:ext cx="2983230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028dc592c_3_0"/>
          <p:cNvSpPr/>
          <p:nvPr/>
        </p:nvSpPr>
        <p:spPr>
          <a:xfrm>
            <a:off x="0" y="0"/>
            <a:ext cx="3614167" cy="6858000"/>
          </a:xfrm>
          <a:custGeom>
            <a:avLst/>
            <a:gdLst/>
            <a:ahLst/>
            <a:cxnLst/>
            <a:rect l="l" t="t" r="r" b="b"/>
            <a:pathLst>
              <a:path w="4818889" h="6858000" extrusionOk="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algn="l" rotWithShape="0">
              <a:srgbClr val="D8D8D8">
                <a:alpha val="4941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g3b028dc592c_3_0"/>
          <p:cNvSpPr/>
          <p:nvPr/>
        </p:nvSpPr>
        <p:spPr>
          <a:xfrm>
            <a:off x="0" y="0"/>
            <a:ext cx="3608608" cy="6858000"/>
          </a:xfrm>
          <a:custGeom>
            <a:avLst/>
            <a:gdLst/>
            <a:ahLst/>
            <a:cxnLst/>
            <a:rect l="l" t="t" r="r" b="b"/>
            <a:pathLst>
              <a:path w="4811477" h="6858000" extrusionOk="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3b028dc592c_3_0"/>
          <p:cNvSpPr txBox="1">
            <a:spLocks noGrp="1"/>
          </p:cNvSpPr>
          <p:nvPr>
            <p:ph type="title"/>
          </p:nvPr>
        </p:nvSpPr>
        <p:spPr>
          <a:xfrm>
            <a:off x="466344" y="1161288"/>
            <a:ext cx="2702100" cy="45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</a:pPr>
            <a:r>
              <a:rPr lang="en-US" sz="3000" b="1">
                <a:latin typeface="Lexend"/>
                <a:ea typeface="Lexend"/>
                <a:cs typeface="Lexend"/>
                <a:sym typeface="Lexend"/>
              </a:rPr>
              <a:t>Introduction</a:t>
            </a:r>
            <a:endParaRPr sz="2900" b="1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</a:pPr>
            <a:endParaRPr sz="30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g3b028dc592c_3_0"/>
          <p:cNvSpPr/>
          <p:nvPr/>
        </p:nvSpPr>
        <p:spPr>
          <a:xfrm>
            <a:off x="0" y="3081528"/>
            <a:ext cx="96000" cy="704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" name="Google Shape;98;g3b028dc592c_3_0"/>
          <p:cNvGrpSpPr/>
          <p:nvPr/>
        </p:nvGrpSpPr>
        <p:grpSpPr>
          <a:xfrm>
            <a:off x="3977640" y="678944"/>
            <a:ext cx="4773300" cy="5509212"/>
            <a:chOff x="0" y="2288"/>
            <a:chExt cx="4773300" cy="5509212"/>
          </a:xfrm>
        </p:grpSpPr>
        <p:sp>
          <p:nvSpPr>
            <p:cNvPr id="99" name="Google Shape;99;g3b028dc592c_3_0"/>
            <p:cNvSpPr/>
            <p:nvPr/>
          </p:nvSpPr>
          <p:spPr>
            <a:xfrm>
              <a:off x="0" y="2288"/>
              <a:ext cx="4773300" cy="1159800"/>
            </a:xfrm>
            <a:prstGeom prst="roundRect">
              <a:avLst>
                <a:gd name="adj" fmla="val 1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g3b028dc592c_3_0"/>
            <p:cNvSpPr/>
            <p:nvPr/>
          </p:nvSpPr>
          <p:spPr>
            <a:xfrm>
              <a:off x="350852" y="263253"/>
              <a:ext cx="637800" cy="6378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g3b028dc592c_3_0"/>
            <p:cNvSpPr/>
            <p:nvPr/>
          </p:nvSpPr>
          <p:spPr>
            <a:xfrm>
              <a:off x="1339618" y="2288"/>
              <a:ext cx="3433500" cy="115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g3b028dc592c_3_0"/>
            <p:cNvSpPr txBox="1"/>
            <p:nvPr/>
          </p:nvSpPr>
          <p:spPr>
            <a:xfrm>
              <a:off x="1339618" y="2288"/>
              <a:ext cx="3433500" cy="115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2750" tIns="122750" rIns="122750" bIns="1227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rPr lang="en-US" sz="2200">
                  <a:solidFill>
                    <a:srgbClr val="434343"/>
                  </a:solidFill>
                  <a:latin typeface="Lexend SemiBold"/>
                  <a:ea typeface="Lexend SemiBold"/>
                  <a:cs typeface="Lexend SemiBold"/>
                  <a:sym typeface="Lexend SemiBold"/>
                </a:rPr>
                <a:t>T</a:t>
              </a:r>
              <a:r>
                <a:rPr lang="en-US" sz="2200" i="0" u="none" strike="noStrike" cap="none">
                  <a:solidFill>
                    <a:srgbClr val="434343"/>
                  </a:solidFill>
                  <a:latin typeface="Lexend SemiBold"/>
                  <a:ea typeface="Lexend SemiBold"/>
                  <a:cs typeface="Lexend SemiBold"/>
                  <a:sym typeface="Lexend SemiBold"/>
                </a:rPr>
                <a:t>eam </a:t>
              </a:r>
              <a:r>
                <a:rPr lang="en-US" sz="2200">
                  <a:solidFill>
                    <a:srgbClr val="434343"/>
                  </a:solidFill>
                  <a:latin typeface="Lexend SemiBold"/>
                  <a:ea typeface="Lexend SemiBold"/>
                  <a:cs typeface="Lexend SemiBold"/>
                  <a:sym typeface="Lexend SemiBold"/>
                </a:rPr>
                <a:t>M</a:t>
              </a:r>
              <a:r>
                <a:rPr lang="en-US" sz="2200" i="0" u="none" strike="noStrike" cap="none">
                  <a:solidFill>
                    <a:srgbClr val="434343"/>
                  </a:solidFill>
                  <a:latin typeface="Lexend SemiBold"/>
                  <a:ea typeface="Lexend SemiBold"/>
                  <a:cs typeface="Lexend SemiBold"/>
                  <a:sym typeface="Lexend SemiBold"/>
                </a:rPr>
                <a:t>ember</a:t>
              </a:r>
              <a:endParaRPr sz="1400" i="0" u="none" strike="noStrike" cap="none">
                <a:solidFill>
                  <a:srgbClr val="434343"/>
                </a:solidFill>
                <a:latin typeface="Lexend SemiBold"/>
                <a:ea typeface="Lexend SemiBold"/>
                <a:cs typeface="Lexend SemiBold"/>
                <a:sym typeface="Lexend SemiBold"/>
              </a:endParaRPr>
            </a:p>
          </p:txBody>
        </p:sp>
        <p:sp>
          <p:nvSpPr>
            <p:cNvPr id="103" name="Google Shape;103;g3b028dc592c_3_0"/>
            <p:cNvSpPr/>
            <p:nvPr/>
          </p:nvSpPr>
          <p:spPr>
            <a:xfrm>
              <a:off x="0" y="1452092"/>
              <a:ext cx="4773300" cy="1159800"/>
            </a:xfrm>
            <a:prstGeom prst="roundRect">
              <a:avLst>
                <a:gd name="adj" fmla="val 1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g3b028dc592c_3_0"/>
            <p:cNvSpPr/>
            <p:nvPr/>
          </p:nvSpPr>
          <p:spPr>
            <a:xfrm>
              <a:off x="350852" y="1713057"/>
              <a:ext cx="637800" cy="6378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g3b028dc592c_3_0"/>
            <p:cNvSpPr/>
            <p:nvPr/>
          </p:nvSpPr>
          <p:spPr>
            <a:xfrm>
              <a:off x="1339618" y="1452092"/>
              <a:ext cx="3433500" cy="115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g3b028dc592c_3_0"/>
            <p:cNvSpPr txBox="1"/>
            <p:nvPr/>
          </p:nvSpPr>
          <p:spPr>
            <a:xfrm>
              <a:off x="1339618" y="1452092"/>
              <a:ext cx="3433500" cy="115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2750" tIns="122750" rIns="122750" bIns="1227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rPr lang="en-US" sz="2200">
                  <a:solidFill>
                    <a:srgbClr val="434343"/>
                  </a:solidFill>
                  <a:latin typeface="Lexend SemiBold"/>
                  <a:ea typeface="Lexend SemiBold"/>
                  <a:cs typeface="Lexend SemiBold"/>
                  <a:sym typeface="Lexend SemiBold"/>
                </a:rPr>
                <a:t>SnapEats B</a:t>
              </a:r>
              <a:r>
                <a:rPr lang="en-US" sz="2200" i="0" u="none" strike="noStrike" cap="none">
                  <a:solidFill>
                    <a:srgbClr val="434343"/>
                  </a:solidFill>
                  <a:latin typeface="Lexend SemiBold"/>
                  <a:ea typeface="Lexend SemiBold"/>
                  <a:cs typeface="Lexend SemiBold"/>
                  <a:sym typeface="Lexend SemiBold"/>
                </a:rPr>
                <a:t>usiness </a:t>
              </a:r>
              <a:r>
                <a:rPr lang="en-US" sz="2200">
                  <a:solidFill>
                    <a:srgbClr val="434343"/>
                  </a:solidFill>
                  <a:latin typeface="Lexend SemiBold"/>
                  <a:ea typeface="Lexend SemiBold"/>
                  <a:cs typeface="Lexend SemiBold"/>
                  <a:sym typeface="Lexend SemiBold"/>
                </a:rPr>
                <a:t>I</a:t>
              </a:r>
              <a:r>
                <a:rPr lang="en-US" sz="2200" i="0" u="none" strike="noStrike" cap="none">
                  <a:solidFill>
                    <a:srgbClr val="434343"/>
                  </a:solidFill>
                  <a:latin typeface="Lexend SemiBold"/>
                  <a:ea typeface="Lexend SemiBold"/>
                  <a:cs typeface="Lexend SemiBold"/>
                  <a:sym typeface="Lexend SemiBold"/>
                </a:rPr>
                <a:t>dea and Services</a:t>
              </a:r>
              <a:endParaRPr sz="1400" i="0" u="none" strike="noStrike" cap="none">
                <a:solidFill>
                  <a:srgbClr val="434343"/>
                </a:solidFill>
                <a:latin typeface="Lexend SemiBold"/>
                <a:ea typeface="Lexend SemiBold"/>
                <a:cs typeface="Lexend SemiBold"/>
                <a:sym typeface="Lexend SemiBold"/>
              </a:endParaRPr>
            </a:p>
          </p:txBody>
        </p:sp>
        <p:sp>
          <p:nvSpPr>
            <p:cNvPr id="107" name="Google Shape;107;g3b028dc592c_3_0"/>
            <p:cNvSpPr/>
            <p:nvPr/>
          </p:nvSpPr>
          <p:spPr>
            <a:xfrm>
              <a:off x="0" y="2901896"/>
              <a:ext cx="4773300" cy="1159800"/>
            </a:xfrm>
            <a:prstGeom prst="roundRect">
              <a:avLst>
                <a:gd name="adj" fmla="val 1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g3b028dc592c_3_0"/>
            <p:cNvSpPr/>
            <p:nvPr/>
          </p:nvSpPr>
          <p:spPr>
            <a:xfrm>
              <a:off x="350852" y="3162861"/>
              <a:ext cx="637800" cy="6378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g3b028dc592c_3_0"/>
            <p:cNvSpPr/>
            <p:nvPr/>
          </p:nvSpPr>
          <p:spPr>
            <a:xfrm>
              <a:off x="1339618" y="2901896"/>
              <a:ext cx="3433500" cy="115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g3b028dc592c_3_0"/>
            <p:cNvSpPr txBox="1"/>
            <p:nvPr/>
          </p:nvSpPr>
          <p:spPr>
            <a:xfrm>
              <a:off x="1339618" y="2901896"/>
              <a:ext cx="3433500" cy="115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2750" tIns="122750" rIns="122750" bIns="1227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rPr lang="en-US" sz="2200">
                  <a:solidFill>
                    <a:srgbClr val="434343"/>
                  </a:solidFill>
                  <a:latin typeface="Lexend SemiBold"/>
                  <a:ea typeface="Lexend SemiBold"/>
                  <a:cs typeface="Lexend SemiBold"/>
                  <a:sym typeface="Lexend SemiBold"/>
                </a:rPr>
                <a:t>Full T</a:t>
              </a:r>
              <a:r>
                <a:rPr lang="en-US" sz="2200" i="0" u="none" strike="noStrike" cap="none">
                  <a:solidFill>
                    <a:srgbClr val="434343"/>
                  </a:solidFill>
                  <a:latin typeface="Lexend SemiBold"/>
                  <a:ea typeface="Lexend SemiBold"/>
                  <a:cs typeface="Lexend SemiBold"/>
                  <a:sym typeface="Lexend SemiBold"/>
                </a:rPr>
                <a:t>ech </a:t>
              </a:r>
              <a:r>
                <a:rPr lang="en-US" sz="2200">
                  <a:solidFill>
                    <a:srgbClr val="434343"/>
                  </a:solidFill>
                  <a:latin typeface="Lexend SemiBold"/>
                  <a:ea typeface="Lexend SemiBold"/>
                  <a:cs typeface="Lexend SemiBold"/>
                  <a:sym typeface="Lexend SemiBold"/>
                </a:rPr>
                <a:t>S</a:t>
              </a:r>
              <a:r>
                <a:rPr lang="en-US" sz="2200" i="0" u="none" strike="noStrike" cap="none">
                  <a:solidFill>
                    <a:srgbClr val="434343"/>
                  </a:solidFill>
                  <a:latin typeface="Lexend SemiBold"/>
                  <a:ea typeface="Lexend SemiBold"/>
                  <a:cs typeface="Lexend SemiBold"/>
                  <a:sym typeface="Lexend SemiBold"/>
                </a:rPr>
                <a:t>tack</a:t>
              </a:r>
              <a:endParaRPr sz="1400" i="0" u="none" strike="noStrike" cap="none">
                <a:solidFill>
                  <a:srgbClr val="434343"/>
                </a:solidFill>
                <a:latin typeface="Lexend SemiBold"/>
                <a:ea typeface="Lexend SemiBold"/>
                <a:cs typeface="Lexend SemiBold"/>
                <a:sym typeface="Lexend SemiBold"/>
              </a:endParaRPr>
            </a:p>
          </p:txBody>
        </p:sp>
        <p:sp>
          <p:nvSpPr>
            <p:cNvPr id="111" name="Google Shape;111;g3b028dc592c_3_0"/>
            <p:cNvSpPr/>
            <p:nvPr/>
          </p:nvSpPr>
          <p:spPr>
            <a:xfrm>
              <a:off x="0" y="4351700"/>
              <a:ext cx="4773300" cy="1159800"/>
            </a:xfrm>
            <a:prstGeom prst="roundRect">
              <a:avLst>
                <a:gd name="adj" fmla="val 1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g3b028dc592c_3_0"/>
            <p:cNvSpPr/>
            <p:nvPr/>
          </p:nvSpPr>
          <p:spPr>
            <a:xfrm>
              <a:off x="350852" y="4612665"/>
              <a:ext cx="637800" cy="6378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g3b028dc592c_3_0"/>
            <p:cNvSpPr/>
            <p:nvPr/>
          </p:nvSpPr>
          <p:spPr>
            <a:xfrm>
              <a:off x="1339618" y="4351700"/>
              <a:ext cx="3433500" cy="115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g3b028dc592c_3_0"/>
            <p:cNvSpPr txBox="1"/>
            <p:nvPr/>
          </p:nvSpPr>
          <p:spPr>
            <a:xfrm>
              <a:off x="1339618" y="4351700"/>
              <a:ext cx="3433500" cy="115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2750" tIns="122750" rIns="122750" bIns="1227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rPr lang="en-US" sz="2200">
                  <a:solidFill>
                    <a:srgbClr val="434343"/>
                  </a:solidFill>
                  <a:latin typeface="Lexend SemiBold"/>
                  <a:ea typeface="Lexend SemiBold"/>
                  <a:cs typeface="Lexend SemiBold"/>
                  <a:sym typeface="Lexend SemiBold"/>
                </a:rPr>
                <a:t>P</a:t>
              </a:r>
              <a:r>
                <a:rPr lang="en-US" sz="2200" i="0" u="none" strike="noStrike" cap="none">
                  <a:solidFill>
                    <a:srgbClr val="434343"/>
                  </a:solidFill>
                  <a:latin typeface="Lexend SemiBold"/>
                  <a:ea typeface="Lexend SemiBold"/>
                  <a:cs typeface="Lexend SemiBold"/>
                  <a:sym typeface="Lexend SemiBold"/>
                </a:rPr>
                <a:t>rofit </a:t>
              </a:r>
              <a:r>
                <a:rPr lang="en-US" sz="2200">
                  <a:solidFill>
                    <a:srgbClr val="434343"/>
                  </a:solidFill>
                  <a:latin typeface="Lexend SemiBold"/>
                  <a:ea typeface="Lexend SemiBold"/>
                  <a:cs typeface="Lexend SemiBold"/>
                  <a:sym typeface="Lexend SemiBold"/>
                </a:rPr>
                <a:t>M</a:t>
              </a:r>
              <a:r>
                <a:rPr lang="en-US" sz="2200" i="0" u="none" strike="noStrike" cap="none">
                  <a:solidFill>
                    <a:srgbClr val="434343"/>
                  </a:solidFill>
                  <a:latin typeface="Lexend SemiBold"/>
                  <a:ea typeface="Lexend SemiBold"/>
                  <a:cs typeface="Lexend SemiBold"/>
                  <a:sym typeface="Lexend SemiBold"/>
                </a:rPr>
                <a:t>odel</a:t>
              </a:r>
              <a:endParaRPr sz="1400" i="0" u="none" strike="noStrike" cap="none">
                <a:solidFill>
                  <a:srgbClr val="434343"/>
                </a:solidFill>
                <a:latin typeface="Lexend SemiBold"/>
                <a:ea typeface="Lexend SemiBold"/>
                <a:cs typeface="Lexend SemiBold"/>
                <a:sym typeface="Lexend SemiBold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dfa6bd339_1_154"/>
          <p:cNvSpPr/>
          <p:nvPr/>
        </p:nvSpPr>
        <p:spPr>
          <a:xfrm>
            <a:off x="227850" y="0"/>
            <a:ext cx="3614167" cy="6858000"/>
          </a:xfrm>
          <a:custGeom>
            <a:avLst/>
            <a:gdLst/>
            <a:ahLst/>
            <a:cxnLst/>
            <a:rect l="l" t="t" r="r" b="b"/>
            <a:pathLst>
              <a:path w="4818889" h="6858000" extrusionOk="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algn="l" rotWithShape="0">
              <a:srgbClr val="D8D8D8">
                <a:alpha val="4941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adfa6bd339_1_154"/>
          <p:cNvSpPr/>
          <p:nvPr/>
        </p:nvSpPr>
        <p:spPr>
          <a:xfrm>
            <a:off x="0" y="50425"/>
            <a:ext cx="3608608" cy="6858000"/>
          </a:xfrm>
          <a:custGeom>
            <a:avLst/>
            <a:gdLst/>
            <a:ahLst/>
            <a:cxnLst/>
            <a:rect l="l" t="t" r="r" b="b"/>
            <a:pathLst>
              <a:path w="4811477" h="6858000" extrusionOk="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g3adfa6bd339_1_154"/>
          <p:cNvSpPr/>
          <p:nvPr/>
        </p:nvSpPr>
        <p:spPr>
          <a:xfrm>
            <a:off x="0" y="3081528"/>
            <a:ext cx="96000" cy="704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3adfa6bd339_1_154"/>
          <p:cNvSpPr txBox="1"/>
          <p:nvPr/>
        </p:nvSpPr>
        <p:spPr>
          <a:xfrm>
            <a:off x="1750025" y="513775"/>
            <a:ext cx="6370800" cy="6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accent2"/>
                </a:solidFill>
                <a:latin typeface="IBM Plex Sans"/>
                <a:ea typeface="IBM Plex Sans"/>
                <a:cs typeface="IBM Plex Sans"/>
                <a:sym typeface="IBM Plex Sans"/>
              </a:rPr>
              <a:t>Team Member</a:t>
            </a:r>
            <a:endParaRPr sz="3600" b="1">
              <a:solidFill>
                <a:schemeClr val="accent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3" name="Google Shape;123;g3adfa6bd339_1_154"/>
          <p:cNvSpPr txBox="1"/>
          <p:nvPr/>
        </p:nvSpPr>
        <p:spPr>
          <a:xfrm>
            <a:off x="5557288" y="2560925"/>
            <a:ext cx="473100" cy="3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4" name="Google Shape;124;g3adfa6bd339_1_154"/>
          <p:cNvSpPr/>
          <p:nvPr/>
        </p:nvSpPr>
        <p:spPr>
          <a:xfrm>
            <a:off x="728017" y="536584"/>
            <a:ext cx="637800" cy="637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3adfa6bd339_1_154"/>
          <p:cNvSpPr/>
          <p:nvPr/>
        </p:nvSpPr>
        <p:spPr>
          <a:xfrm rot="10800000">
            <a:off x="2088641" y="1606564"/>
            <a:ext cx="913348" cy="1822436"/>
          </a:xfrm>
          <a:custGeom>
            <a:avLst/>
            <a:gdLst/>
            <a:ahLst/>
            <a:cxnLst/>
            <a:rect l="l" t="t" r="r" b="b"/>
            <a:pathLst>
              <a:path w="25297" h="50476" extrusionOk="0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FF5777"/>
              </a:gs>
              <a:gs pos="58000">
                <a:srgbClr val="F0B03B"/>
              </a:gs>
              <a:gs pos="100000">
                <a:srgbClr val="F0B03B"/>
              </a:gs>
            </a:gsLst>
            <a:lin ang="13500032" scaled="0"/>
          </a:gradFill>
          <a:ln>
            <a:noFill/>
          </a:ln>
        </p:spPr>
        <p:txBody>
          <a:bodyPr spcFirstLastPara="1" wrap="square" lIns="132025" tIns="132025" rIns="132025" bIns="1320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21">
              <a:solidFill>
                <a:schemeClr val="accent2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6" name="Google Shape;126;g3adfa6bd339_1_154"/>
          <p:cNvSpPr/>
          <p:nvPr/>
        </p:nvSpPr>
        <p:spPr>
          <a:xfrm>
            <a:off x="2138065" y="4238822"/>
            <a:ext cx="4770000" cy="18222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6961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2025" tIns="132025" rIns="132025" bIns="1320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310">
              <a:solidFill>
                <a:schemeClr val="accent2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7" name="Google Shape;127;g3adfa6bd339_1_154"/>
          <p:cNvSpPr/>
          <p:nvPr/>
        </p:nvSpPr>
        <p:spPr>
          <a:xfrm rot="10800000">
            <a:off x="2098931" y="4238814"/>
            <a:ext cx="892858" cy="1822436"/>
          </a:xfrm>
          <a:custGeom>
            <a:avLst/>
            <a:gdLst/>
            <a:ahLst/>
            <a:cxnLst/>
            <a:rect l="l" t="t" r="r" b="b"/>
            <a:pathLst>
              <a:path w="25297" h="50476" extrusionOk="0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FF5777"/>
              </a:gs>
              <a:gs pos="58000">
                <a:srgbClr val="F0B03B"/>
              </a:gs>
              <a:gs pos="100000">
                <a:srgbClr val="F0B03B"/>
              </a:gs>
            </a:gsLst>
            <a:lin ang="13500032" scaled="0"/>
          </a:gradFill>
          <a:ln>
            <a:noFill/>
          </a:ln>
        </p:spPr>
        <p:txBody>
          <a:bodyPr spcFirstLastPara="1" wrap="square" lIns="132025" tIns="132025" rIns="132025" bIns="1320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10">
              <a:solidFill>
                <a:schemeClr val="accent2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8" name="Google Shape;128;g3adfa6bd339_1_154"/>
          <p:cNvSpPr/>
          <p:nvPr/>
        </p:nvSpPr>
        <p:spPr>
          <a:xfrm>
            <a:off x="2088650" y="1606572"/>
            <a:ext cx="4812600" cy="18222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6961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2025" tIns="132025" rIns="132025" bIns="1320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310">
              <a:solidFill>
                <a:schemeClr val="accent2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9" name="Google Shape;129;g3adfa6bd339_1_154"/>
          <p:cNvSpPr txBox="1"/>
          <p:nvPr/>
        </p:nvSpPr>
        <p:spPr>
          <a:xfrm>
            <a:off x="3001990" y="1745251"/>
            <a:ext cx="3458700" cy="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2025" tIns="132025" rIns="132025" bIns="132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21" b="1">
                <a:solidFill>
                  <a:schemeClr val="accent2"/>
                </a:solidFill>
                <a:latin typeface="Sora"/>
                <a:ea typeface="Sora"/>
                <a:cs typeface="Sora"/>
                <a:sym typeface="Sora"/>
              </a:rPr>
              <a:t>Front End</a:t>
            </a:r>
            <a:endParaRPr sz="2021" b="1">
              <a:solidFill>
                <a:schemeClr val="accent2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0" name="Google Shape;130;g3adfa6bd339_1_154"/>
          <p:cNvSpPr txBox="1"/>
          <p:nvPr/>
        </p:nvSpPr>
        <p:spPr>
          <a:xfrm>
            <a:off x="3001990" y="2240645"/>
            <a:ext cx="3899400" cy="11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2025" tIns="0" rIns="132025" bIns="132025" anchor="t" anchorCtr="0">
            <a:noAutofit/>
          </a:bodyPr>
          <a:lstStyle/>
          <a:p>
            <a:pPr marL="660283" lvl="0" indent="-44018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33"/>
              <a:buFont typeface="Sora SemiBold"/>
              <a:buChar char="●"/>
            </a:pPr>
            <a:r>
              <a:rPr lang="en-US" sz="1733">
                <a:solidFill>
                  <a:schemeClr val="accent2"/>
                </a:solidFill>
                <a:latin typeface="Sora SemiBold"/>
                <a:ea typeface="Sora SemiBold"/>
                <a:cs typeface="Sora SemiBold"/>
                <a:sym typeface="Sora SemiBold"/>
              </a:rPr>
              <a:t>Xinhang Yang</a:t>
            </a:r>
            <a:endParaRPr sz="1733">
              <a:solidFill>
                <a:schemeClr val="accen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  <a:p>
            <a:pPr marL="660283" lvl="0" indent="-44018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33"/>
              <a:buFont typeface="Sora SemiBold"/>
              <a:buChar char="●"/>
            </a:pPr>
            <a:r>
              <a:rPr lang="en-US" sz="1733">
                <a:solidFill>
                  <a:schemeClr val="accent2"/>
                </a:solidFill>
                <a:latin typeface="Sora SemiBold"/>
                <a:ea typeface="Sora SemiBold"/>
                <a:cs typeface="Sora SemiBold"/>
                <a:sym typeface="Sora SemiBold"/>
              </a:rPr>
              <a:t>Oumar Kante</a:t>
            </a:r>
            <a:endParaRPr sz="1733">
              <a:solidFill>
                <a:schemeClr val="accen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  <a:p>
            <a:pPr marL="660283" lvl="0" indent="-44018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33"/>
              <a:buFont typeface="Sora SemiBold"/>
              <a:buChar char="●"/>
            </a:pPr>
            <a:r>
              <a:rPr lang="en-US" sz="1733">
                <a:solidFill>
                  <a:schemeClr val="accent2"/>
                </a:solidFill>
                <a:latin typeface="Sora SemiBold"/>
                <a:ea typeface="Sora SemiBold"/>
                <a:cs typeface="Sora SemiBold"/>
                <a:sym typeface="Sora SemiBold"/>
              </a:rPr>
              <a:t>Md Mamun</a:t>
            </a:r>
            <a:endParaRPr sz="1733">
              <a:solidFill>
                <a:schemeClr val="accen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31" name="Google Shape;131;g3adfa6bd339_1_154"/>
          <p:cNvSpPr txBox="1"/>
          <p:nvPr/>
        </p:nvSpPr>
        <p:spPr>
          <a:xfrm>
            <a:off x="3001995" y="4377501"/>
            <a:ext cx="3458700" cy="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2025" tIns="132025" rIns="132025" bIns="132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21" b="1">
                <a:solidFill>
                  <a:schemeClr val="accent2"/>
                </a:solidFill>
                <a:latin typeface="Sora"/>
                <a:ea typeface="Sora"/>
                <a:cs typeface="Sora"/>
                <a:sym typeface="Sora"/>
              </a:rPr>
              <a:t>Back End</a:t>
            </a:r>
            <a:endParaRPr sz="2021" b="1">
              <a:solidFill>
                <a:schemeClr val="accent2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2" name="Google Shape;132;g3adfa6bd339_1_154"/>
          <p:cNvSpPr txBox="1"/>
          <p:nvPr/>
        </p:nvSpPr>
        <p:spPr>
          <a:xfrm>
            <a:off x="3001995" y="4872895"/>
            <a:ext cx="3899400" cy="11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2025" tIns="0" rIns="132025" bIns="132025" anchor="t" anchorCtr="0">
            <a:noAutofit/>
          </a:bodyPr>
          <a:lstStyle/>
          <a:p>
            <a:pPr marL="660283" lvl="0" indent="-44018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33"/>
              <a:buFont typeface="Sora SemiBold"/>
              <a:buChar char="●"/>
            </a:pPr>
            <a:r>
              <a:rPr lang="en-US" sz="1733">
                <a:solidFill>
                  <a:schemeClr val="accent2"/>
                </a:solidFill>
                <a:latin typeface="Sora SemiBold"/>
                <a:ea typeface="Sora SemiBold"/>
                <a:cs typeface="Sora SemiBold"/>
                <a:sym typeface="Sora SemiBold"/>
              </a:rPr>
              <a:t>Qiuming Wang</a:t>
            </a:r>
            <a:endParaRPr sz="1733">
              <a:solidFill>
                <a:schemeClr val="accen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  <a:p>
            <a:pPr marL="660283" lvl="0" indent="-44018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33"/>
              <a:buFont typeface="Sora SemiBold"/>
              <a:buChar char="●"/>
            </a:pPr>
            <a:r>
              <a:rPr lang="en-US" sz="1733">
                <a:solidFill>
                  <a:schemeClr val="accent2"/>
                </a:solidFill>
                <a:latin typeface="Sora SemiBold"/>
                <a:ea typeface="Sora SemiBold"/>
                <a:cs typeface="Sora SemiBold"/>
                <a:sym typeface="Sora SemiBold"/>
              </a:rPr>
              <a:t>Fatoumata Drammeh</a:t>
            </a:r>
            <a:endParaRPr sz="1733">
              <a:solidFill>
                <a:schemeClr val="accen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  <a:p>
            <a:pPr marL="660283" lvl="0" indent="-44018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33"/>
              <a:buFont typeface="Sora SemiBold"/>
              <a:buChar char="●"/>
            </a:pPr>
            <a:r>
              <a:rPr lang="en-US" sz="1733">
                <a:solidFill>
                  <a:schemeClr val="accent2"/>
                </a:solidFill>
                <a:latin typeface="Sora SemiBold"/>
                <a:ea typeface="Sora SemiBold"/>
                <a:cs typeface="Sora SemiBold"/>
                <a:sym typeface="Sora SemiBold"/>
              </a:rPr>
              <a:t>David Girgis</a:t>
            </a:r>
            <a:endParaRPr sz="1733">
              <a:solidFill>
                <a:schemeClr val="accen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dfa6bd339_1_192"/>
          <p:cNvSpPr/>
          <p:nvPr/>
        </p:nvSpPr>
        <p:spPr>
          <a:xfrm>
            <a:off x="0" y="0"/>
            <a:ext cx="3614167" cy="6858000"/>
          </a:xfrm>
          <a:custGeom>
            <a:avLst/>
            <a:gdLst/>
            <a:ahLst/>
            <a:cxnLst/>
            <a:rect l="l" t="t" r="r" b="b"/>
            <a:pathLst>
              <a:path w="4818889" h="6858000" extrusionOk="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algn="l" rotWithShape="0">
              <a:srgbClr val="D8D8D8">
                <a:alpha val="4941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g3adfa6bd339_1_192"/>
          <p:cNvSpPr/>
          <p:nvPr/>
        </p:nvSpPr>
        <p:spPr>
          <a:xfrm>
            <a:off x="0" y="0"/>
            <a:ext cx="3608608" cy="6858000"/>
          </a:xfrm>
          <a:custGeom>
            <a:avLst/>
            <a:gdLst/>
            <a:ahLst/>
            <a:cxnLst/>
            <a:rect l="l" t="t" r="r" b="b"/>
            <a:pathLst>
              <a:path w="4811477" h="6858000" extrusionOk="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3adfa6bd339_1_192"/>
          <p:cNvSpPr/>
          <p:nvPr/>
        </p:nvSpPr>
        <p:spPr>
          <a:xfrm>
            <a:off x="0" y="3081528"/>
            <a:ext cx="96000" cy="704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3adfa6bd339_1_192"/>
          <p:cNvSpPr txBox="1"/>
          <p:nvPr/>
        </p:nvSpPr>
        <p:spPr>
          <a:xfrm>
            <a:off x="1568475" y="614875"/>
            <a:ext cx="70968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b="1">
                <a:solidFill>
                  <a:schemeClr val="accent3"/>
                </a:solidFill>
                <a:latin typeface="IBM Plex Sans"/>
                <a:ea typeface="IBM Plex Sans"/>
                <a:cs typeface="IBM Plex Sans"/>
                <a:sym typeface="IBM Plex Sans"/>
              </a:rPr>
              <a:t>SnapEats Business Idea and Services</a:t>
            </a:r>
            <a:endParaRPr sz="3800" b="1">
              <a:solidFill>
                <a:schemeClr val="accent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1" name="Google Shape;141;g3adfa6bd339_1_192"/>
          <p:cNvSpPr txBox="1"/>
          <p:nvPr/>
        </p:nvSpPr>
        <p:spPr>
          <a:xfrm>
            <a:off x="5329438" y="2560925"/>
            <a:ext cx="473100" cy="3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41CC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2" name="Google Shape;142;g3adfa6bd339_1_192"/>
          <p:cNvSpPr/>
          <p:nvPr/>
        </p:nvSpPr>
        <p:spPr>
          <a:xfrm>
            <a:off x="677617" y="614863"/>
            <a:ext cx="637800" cy="637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adfa6bd339_1_192"/>
          <p:cNvSpPr txBox="1"/>
          <p:nvPr/>
        </p:nvSpPr>
        <p:spPr>
          <a:xfrm>
            <a:off x="462900" y="1591675"/>
            <a:ext cx="4438500" cy="50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434343"/>
                </a:solidFill>
                <a:latin typeface="Sora"/>
                <a:ea typeface="Sora"/>
                <a:cs typeface="Sora"/>
                <a:sym typeface="Sora"/>
              </a:rPr>
              <a:t>Problem: </a:t>
            </a:r>
            <a:endParaRPr sz="2000" b="1">
              <a:solidFill>
                <a:srgbClr val="434343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Local Restaurants often lack the  digital infrastructure to manage   online orders efficiently.</a:t>
            </a:r>
            <a:endParaRPr sz="20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rgbClr val="434343"/>
              </a:solidFill>
              <a:latin typeface="Sora"/>
              <a:ea typeface="Sora"/>
              <a:cs typeface="Sora"/>
              <a:sym typeface="Sor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434343"/>
                </a:solidFill>
                <a:latin typeface="Sora"/>
                <a:ea typeface="Sora"/>
                <a:cs typeface="Sora"/>
                <a:sym typeface="Sora"/>
              </a:rPr>
              <a:t>Solution: </a:t>
            </a:r>
            <a:endParaRPr sz="2000" b="1">
              <a:solidFill>
                <a:srgbClr val="434343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Create an affordable, centralized system that connect customers, restaurants, increasing revenue and operational efficiency.</a:t>
            </a:r>
            <a:endParaRPr sz="20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" name="Google Shape;144;g3adfa6bd339_1_192"/>
          <p:cNvSpPr txBox="1"/>
          <p:nvPr/>
        </p:nvSpPr>
        <p:spPr>
          <a:xfrm>
            <a:off x="5047200" y="1618025"/>
            <a:ext cx="3908700" cy="44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434343"/>
                </a:solidFill>
                <a:latin typeface="Sora"/>
                <a:ea typeface="Sora"/>
                <a:cs typeface="Sora"/>
                <a:sym typeface="Sora"/>
              </a:rPr>
              <a:t>Concept: </a:t>
            </a:r>
            <a:endParaRPr sz="2000" b="1">
              <a:solidFill>
                <a:srgbClr val="434343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An ordering and delivery platform designed for local restaurants where customers can place food orders online, restaurants manage menus and orders.</a:t>
            </a:r>
            <a:endParaRPr sz="16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dfa6bd339_1_57"/>
          <p:cNvSpPr/>
          <p:nvPr/>
        </p:nvSpPr>
        <p:spPr>
          <a:xfrm>
            <a:off x="0" y="0"/>
            <a:ext cx="3614167" cy="6858000"/>
          </a:xfrm>
          <a:custGeom>
            <a:avLst/>
            <a:gdLst/>
            <a:ahLst/>
            <a:cxnLst/>
            <a:rect l="l" t="t" r="r" b="b"/>
            <a:pathLst>
              <a:path w="4818889" h="6858000" extrusionOk="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algn="l" rotWithShape="0">
              <a:srgbClr val="D8D8D8">
                <a:alpha val="4941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adfa6bd339_1_57"/>
          <p:cNvSpPr/>
          <p:nvPr/>
        </p:nvSpPr>
        <p:spPr>
          <a:xfrm>
            <a:off x="0" y="0"/>
            <a:ext cx="3608608" cy="6858000"/>
          </a:xfrm>
          <a:custGeom>
            <a:avLst/>
            <a:gdLst/>
            <a:ahLst/>
            <a:cxnLst/>
            <a:rect l="l" t="t" r="r" b="b"/>
            <a:pathLst>
              <a:path w="4811477" h="6858000" extrusionOk="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3adfa6bd339_1_57"/>
          <p:cNvSpPr/>
          <p:nvPr/>
        </p:nvSpPr>
        <p:spPr>
          <a:xfrm>
            <a:off x="0" y="3081528"/>
            <a:ext cx="96000" cy="704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2" name="Google Shape;152;g3adfa6bd339_1_57"/>
          <p:cNvGrpSpPr/>
          <p:nvPr/>
        </p:nvGrpSpPr>
        <p:grpSpPr>
          <a:xfrm>
            <a:off x="798642" y="564317"/>
            <a:ext cx="8002541" cy="5886064"/>
            <a:chOff x="-3229423" y="-374564"/>
            <a:chExt cx="8002541" cy="5886064"/>
          </a:xfrm>
        </p:grpSpPr>
        <p:sp>
          <p:nvSpPr>
            <p:cNvPr id="153" name="Google Shape;153;g3adfa6bd339_1_57"/>
            <p:cNvSpPr/>
            <p:nvPr/>
          </p:nvSpPr>
          <p:spPr>
            <a:xfrm>
              <a:off x="-3229423" y="-374564"/>
              <a:ext cx="637800" cy="6378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g3adfa6bd339_1_57"/>
            <p:cNvSpPr/>
            <p:nvPr/>
          </p:nvSpPr>
          <p:spPr>
            <a:xfrm>
              <a:off x="1339618" y="4351700"/>
              <a:ext cx="3433500" cy="115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5" name="Google Shape;155;g3adfa6bd339_1_57"/>
          <p:cNvSpPr txBox="1"/>
          <p:nvPr/>
        </p:nvSpPr>
        <p:spPr>
          <a:xfrm>
            <a:off x="-226725" y="564325"/>
            <a:ext cx="70002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Full Tech Stack</a:t>
            </a:r>
            <a:endParaRPr b="1">
              <a:solidFill>
                <a:schemeClr val="accent4"/>
              </a:solidFill>
            </a:endParaRPr>
          </a:p>
        </p:txBody>
      </p:sp>
      <p:sp>
        <p:nvSpPr>
          <p:cNvPr id="156" name="Google Shape;156;g3adfa6bd339_1_57"/>
          <p:cNvSpPr/>
          <p:nvPr/>
        </p:nvSpPr>
        <p:spPr>
          <a:xfrm>
            <a:off x="6435550" y="2217850"/>
            <a:ext cx="2006700" cy="34779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6961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35353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7" name="Google Shape;157;g3adfa6bd339_1_57"/>
          <p:cNvSpPr/>
          <p:nvPr/>
        </p:nvSpPr>
        <p:spPr>
          <a:xfrm>
            <a:off x="2706237" y="2217850"/>
            <a:ext cx="2006700" cy="34779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6961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35353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8" name="Google Shape;158;g3adfa6bd339_1_57"/>
          <p:cNvSpPr/>
          <p:nvPr/>
        </p:nvSpPr>
        <p:spPr>
          <a:xfrm>
            <a:off x="4562631" y="2217850"/>
            <a:ext cx="2006700" cy="34779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6961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35353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9" name="Google Shape;159;g3adfa6bd339_1_57"/>
          <p:cNvSpPr/>
          <p:nvPr/>
        </p:nvSpPr>
        <p:spPr>
          <a:xfrm>
            <a:off x="842925" y="2217850"/>
            <a:ext cx="2006700" cy="34779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6961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35353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0" name="Google Shape;160;g3adfa6bd339_1_57"/>
          <p:cNvSpPr/>
          <p:nvPr/>
        </p:nvSpPr>
        <p:spPr>
          <a:xfrm>
            <a:off x="6435569" y="2217850"/>
            <a:ext cx="2006700" cy="34779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41CC6B"/>
              </a:gs>
              <a:gs pos="77000">
                <a:srgbClr val="FFEB67"/>
              </a:gs>
              <a:gs pos="100000">
                <a:srgbClr val="FFEB67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1" name="Google Shape;161;g3adfa6bd339_1_57"/>
          <p:cNvSpPr txBox="1"/>
          <p:nvPr/>
        </p:nvSpPr>
        <p:spPr>
          <a:xfrm>
            <a:off x="1064025" y="2618275"/>
            <a:ext cx="15645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1</a:t>
            </a:r>
            <a:endParaRPr sz="1800" b="1">
              <a:solidFill>
                <a:schemeClr val="accent4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Front End</a:t>
            </a:r>
            <a:endParaRPr sz="1800" b="1">
              <a:solidFill>
                <a:schemeClr val="accent4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2" name="Google Shape;162;g3adfa6bd339_1_57"/>
          <p:cNvSpPr txBox="1"/>
          <p:nvPr/>
        </p:nvSpPr>
        <p:spPr>
          <a:xfrm>
            <a:off x="2923887" y="2618275"/>
            <a:ext cx="15645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2</a:t>
            </a:r>
            <a:endParaRPr sz="1800" b="1">
              <a:solidFill>
                <a:schemeClr val="accent4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Back End</a:t>
            </a:r>
            <a:endParaRPr sz="1800" b="1">
              <a:solidFill>
                <a:schemeClr val="accent4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3" name="Google Shape;163;g3adfa6bd339_1_57"/>
          <p:cNvSpPr txBox="1"/>
          <p:nvPr/>
        </p:nvSpPr>
        <p:spPr>
          <a:xfrm>
            <a:off x="4791994" y="2628825"/>
            <a:ext cx="15645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3</a:t>
            </a:r>
            <a:endParaRPr sz="1800" b="1">
              <a:solidFill>
                <a:schemeClr val="accent4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Database</a:t>
            </a:r>
            <a:endParaRPr sz="1800" b="1">
              <a:solidFill>
                <a:schemeClr val="accent4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4" name="Google Shape;164;g3adfa6bd339_1_57"/>
          <p:cNvSpPr txBox="1"/>
          <p:nvPr/>
        </p:nvSpPr>
        <p:spPr>
          <a:xfrm>
            <a:off x="6643587" y="2649888"/>
            <a:ext cx="16518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4</a:t>
            </a:r>
            <a:endParaRPr sz="1800" b="1">
              <a:solidFill>
                <a:schemeClr val="accent4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Collaboration Tools</a:t>
            </a:r>
            <a:endParaRPr sz="1800" b="1">
              <a:solidFill>
                <a:schemeClr val="accent4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5" name="Google Shape;165;g3adfa6bd339_1_57"/>
          <p:cNvSpPr txBox="1"/>
          <p:nvPr/>
        </p:nvSpPr>
        <p:spPr>
          <a:xfrm>
            <a:off x="5329438" y="2560925"/>
            <a:ext cx="473100" cy="3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41CC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6" name="Google Shape;166;g3adfa6bd339_1_57"/>
          <p:cNvSpPr txBox="1"/>
          <p:nvPr/>
        </p:nvSpPr>
        <p:spPr>
          <a:xfrm>
            <a:off x="7189288" y="2560925"/>
            <a:ext cx="473100" cy="3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353535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167" name="Google Shape;167;g3adfa6bd339_1_57" descr="a blue atom with a circle in the middle on a white background (Provided by Tenor)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5800" y="3812400"/>
            <a:ext cx="582357" cy="50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g3adfa6bd339_1_57" descr="a blue and orange mysql logo with a dolphin on it (Provided by Tenor)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82538" y="3593402"/>
            <a:ext cx="1583400" cy="944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g3adfa6bd339_1_57" descr="Archivo:Flask-horizontal.png - Wikipedia, la enciclopedia libre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23886" y="3883000"/>
            <a:ext cx="1564499" cy="506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g3adfa6bd339_1_57" title="d05d8d4fd76652f4e10fb1f1c7aefe9b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997311" y="3785625"/>
            <a:ext cx="944325" cy="94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g3adfa6bd339_1_57" descr="File:GitHub logo 2013.svg - Wikimedia Common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855041" y="4993875"/>
            <a:ext cx="1167776" cy="31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g3adfa6bd339_1_5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944724" y="3785625"/>
            <a:ext cx="504916" cy="50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g3adfa6bd339_1_5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528585" y="4537725"/>
            <a:ext cx="635392" cy="506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dfa6bd339_1_125"/>
          <p:cNvSpPr/>
          <p:nvPr/>
        </p:nvSpPr>
        <p:spPr>
          <a:xfrm>
            <a:off x="0" y="0"/>
            <a:ext cx="3614167" cy="6858000"/>
          </a:xfrm>
          <a:custGeom>
            <a:avLst/>
            <a:gdLst/>
            <a:ahLst/>
            <a:cxnLst/>
            <a:rect l="l" t="t" r="r" b="b"/>
            <a:pathLst>
              <a:path w="4818889" h="6858000" extrusionOk="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algn="l" rotWithShape="0">
              <a:srgbClr val="D8D8D8">
                <a:alpha val="4941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3adfa6bd339_1_125"/>
          <p:cNvSpPr/>
          <p:nvPr/>
        </p:nvSpPr>
        <p:spPr>
          <a:xfrm>
            <a:off x="0" y="0"/>
            <a:ext cx="3608608" cy="6858000"/>
          </a:xfrm>
          <a:custGeom>
            <a:avLst/>
            <a:gdLst/>
            <a:ahLst/>
            <a:cxnLst/>
            <a:rect l="l" t="t" r="r" b="b"/>
            <a:pathLst>
              <a:path w="4811477" h="6858000" extrusionOk="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adfa6bd339_1_125"/>
          <p:cNvSpPr/>
          <p:nvPr/>
        </p:nvSpPr>
        <p:spPr>
          <a:xfrm>
            <a:off x="0" y="3081528"/>
            <a:ext cx="96000" cy="704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adfa6bd339_1_125"/>
          <p:cNvSpPr txBox="1"/>
          <p:nvPr/>
        </p:nvSpPr>
        <p:spPr>
          <a:xfrm>
            <a:off x="1568475" y="513775"/>
            <a:ext cx="3506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accent5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Profit Model</a:t>
            </a:r>
            <a:endParaRPr sz="3600" b="1">
              <a:solidFill>
                <a:schemeClr val="accent5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2" name="Google Shape;182;g3adfa6bd339_1_125"/>
          <p:cNvSpPr txBox="1"/>
          <p:nvPr/>
        </p:nvSpPr>
        <p:spPr>
          <a:xfrm>
            <a:off x="5329438" y="2560925"/>
            <a:ext cx="473100" cy="3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41CC6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3" name="Google Shape;183;g3adfa6bd339_1_125"/>
          <p:cNvSpPr/>
          <p:nvPr/>
        </p:nvSpPr>
        <p:spPr>
          <a:xfrm>
            <a:off x="707867" y="564321"/>
            <a:ext cx="637800" cy="637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3adfa6bd339_1_125"/>
          <p:cNvSpPr txBox="1"/>
          <p:nvPr/>
        </p:nvSpPr>
        <p:spPr>
          <a:xfrm>
            <a:off x="304300" y="1447675"/>
            <a:ext cx="8278200" cy="48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1950" algn="just" rtl="0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SzPts val="2100"/>
              <a:buChar char="●"/>
            </a:pPr>
            <a:r>
              <a:rPr lang="en-US" sz="2100" b="1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Take rate:</a:t>
            </a:r>
            <a:r>
              <a:rPr lang="en-US" sz="2100">
                <a:solidFill>
                  <a:srgbClr val="434343"/>
                </a:solidFill>
                <a:latin typeface="Lexend Medium"/>
                <a:ea typeface="Lexend Medium"/>
                <a:cs typeface="Lexend Medium"/>
                <a:sym typeface="Lexend Medium"/>
              </a:rPr>
              <a:t> </a:t>
            </a:r>
            <a:r>
              <a:rPr lang="en-US" sz="21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SnapEats earns</a:t>
            </a:r>
            <a:r>
              <a:rPr lang="en-US" sz="2100">
                <a:solidFill>
                  <a:srgbClr val="F1C232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2100" b="1">
                <a:solidFill>
                  <a:srgbClr val="BF9000"/>
                </a:solidFill>
                <a:latin typeface="Lexend"/>
                <a:ea typeface="Lexend"/>
                <a:cs typeface="Lexend"/>
                <a:sym typeface="Lexend"/>
              </a:rPr>
              <a:t>10%</a:t>
            </a:r>
            <a:r>
              <a:rPr lang="en-US" sz="21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 of each order’s total value (platform fee).</a:t>
            </a:r>
            <a:endParaRPr sz="21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619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0"/>
              <a:buChar char="●"/>
            </a:pPr>
            <a:r>
              <a:rPr lang="en-US" sz="2100" b="1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Scope:</a:t>
            </a:r>
            <a:r>
              <a:rPr lang="en-US" sz="2100">
                <a:solidFill>
                  <a:srgbClr val="434343"/>
                </a:solidFill>
                <a:latin typeface="Lexend Medium"/>
                <a:ea typeface="Lexend Medium"/>
                <a:cs typeface="Lexend Medium"/>
                <a:sym typeface="Lexend Medium"/>
              </a:rPr>
              <a:t> </a:t>
            </a:r>
            <a:r>
              <a:rPr lang="en-US" sz="21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Applies to all restaurants and all successful orders (pending/confirmed/completed; cancelled excluded).</a:t>
            </a:r>
            <a:endParaRPr sz="21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683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Char char="●"/>
            </a:pPr>
            <a:r>
              <a:rPr lang="en-US" sz="2100" b="1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Tracking</a:t>
            </a:r>
            <a:r>
              <a:rPr lang="en-US" sz="2100">
                <a:solidFill>
                  <a:srgbClr val="434343"/>
                </a:solidFill>
                <a:latin typeface="Lexend Medium"/>
                <a:ea typeface="Lexend Medium"/>
                <a:cs typeface="Lexend Medium"/>
                <a:sym typeface="Lexend Medium"/>
              </a:rPr>
              <a:t>: </a:t>
            </a:r>
            <a:r>
              <a:rPr lang="en-US" sz="21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Profit = </a:t>
            </a:r>
            <a:r>
              <a:rPr lang="en-US" sz="20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Order Total × 10%</a:t>
            </a:r>
            <a:r>
              <a:rPr lang="en-US" sz="21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, stored and visualized in the Revenue Report dashboard.</a:t>
            </a:r>
            <a:endParaRPr sz="21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619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0"/>
              <a:buChar char="●"/>
            </a:pPr>
            <a:r>
              <a:rPr lang="en-US" sz="2100" b="1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Views</a:t>
            </a:r>
            <a:r>
              <a:rPr lang="en-US" sz="2100">
                <a:solidFill>
                  <a:srgbClr val="434343"/>
                </a:solidFill>
                <a:latin typeface="Lexend Medium"/>
                <a:ea typeface="Lexend Medium"/>
                <a:cs typeface="Lexend Medium"/>
                <a:sym typeface="Lexend Medium"/>
              </a:rPr>
              <a:t>: </a:t>
            </a:r>
            <a:r>
              <a:rPr lang="en-US" sz="21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Filterable by time (week/month/season/year) and by restaurant; exportable to CSV for finance.</a:t>
            </a:r>
            <a:endParaRPr sz="21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619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0"/>
              <a:buChar char="●"/>
            </a:pPr>
            <a:r>
              <a:rPr lang="en-US" sz="2100" b="1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Data flow</a:t>
            </a:r>
            <a:r>
              <a:rPr lang="en-US" sz="2100">
                <a:solidFill>
                  <a:srgbClr val="434343"/>
                </a:solidFill>
                <a:latin typeface="Lexend Medium"/>
                <a:ea typeface="Lexend Medium"/>
                <a:cs typeface="Lexend Medium"/>
                <a:sym typeface="Lexend Medium"/>
              </a:rPr>
              <a:t>: </a:t>
            </a:r>
            <a:r>
              <a:rPr lang="en-US" sz="21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Frontend checkout → Orders &amp; OrderItems in MySQL → Revenue Report aggregates and charts profit.</a:t>
            </a:r>
            <a:endParaRPr sz="21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"/>
          <p:cNvSpPr txBox="1">
            <a:spLocks noGrp="1"/>
          </p:cNvSpPr>
          <p:nvPr>
            <p:ph type="title"/>
          </p:nvPr>
        </p:nvSpPr>
        <p:spPr>
          <a:xfrm>
            <a:off x="160900" y="105849"/>
            <a:ext cx="7549500" cy="7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80"/>
              <a:buFont typeface="Calibri"/>
              <a:buNone/>
            </a:pPr>
            <a:r>
              <a:rPr lang="en-US" sz="3580" b="0">
                <a:latin typeface="Lexend SemiBold"/>
                <a:ea typeface="Lexend SemiBold"/>
                <a:cs typeface="Lexend SemiBold"/>
                <a:sym typeface="Lexend SemiBold"/>
              </a:rPr>
              <a:t>User Journey 1 </a:t>
            </a:r>
            <a:endParaRPr sz="1600" b="0"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190" name="Google Shape;190;p5"/>
          <p:cNvSpPr/>
          <p:nvPr/>
        </p:nvSpPr>
        <p:spPr>
          <a:xfrm rot="10800000">
            <a:off x="144" y="961569"/>
            <a:ext cx="8590800" cy="781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 rot="5400000">
            <a:off x="8323262" y="1294944"/>
            <a:ext cx="781800" cy="114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" name="Google Shape;192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94050"/>
            <a:ext cx="9144000" cy="5107784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5"/>
          <p:cNvSpPr txBox="1">
            <a:spLocks noGrp="1"/>
          </p:cNvSpPr>
          <p:nvPr>
            <p:ph type="title"/>
          </p:nvPr>
        </p:nvSpPr>
        <p:spPr>
          <a:xfrm>
            <a:off x="80450" y="842349"/>
            <a:ext cx="7549500" cy="7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80"/>
              <a:buFont typeface="Calibri"/>
              <a:buNone/>
            </a:pPr>
            <a:r>
              <a:rPr lang="en-US" sz="2980" b="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rPr>
              <a:t>Customer User Journey</a:t>
            </a:r>
            <a:endParaRPr sz="1000" b="0">
              <a:solidFill>
                <a:schemeClr val="lt1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aeaee75853_1_52"/>
          <p:cNvSpPr txBox="1">
            <a:spLocks noGrp="1"/>
          </p:cNvSpPr>
          <p:nvPr>
            <p:ph type="title"/>
          </p:nvPr>
        </p:nvSpPr>
        <p:spPr>
          <a:xfrm>
            <a:off x="160900" y="105849"/>
            <a:ext cx="7549500" cy="7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80"/>
              <a:buFont typeface="Calibri"/>
              <a:buNone/>
            </a:pPr>
            <a:r>
              <a:rPr lang="en-US" sz="3580" b="0">
                <a:latin typeface="Lexend SemiBold"/>
                <a:ea typeface="Lexend SemiBold"/>
                <a:cs typeface="Lexend SemiBold"/>
                <a:sym typeface="Lexend SemiBold"/>
              </a:rPr>
              <a:t>User Journey 2 </a:t>
            </a:r>
            <a:endParaRPr sz="1600" b="0"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199" name="Google Shape;199;g3aeaee75853_1_52"/>
          <p:cNvSpPr/>
          <p:nvPr/>
        </p:nvSpPr>
        <p:spPr>
          <a:xfrm rot="10800000">
            <a:off x="144" y="961569"/>
            <a:ext cx="8590800" cy="781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3aeaee75853_1_52"/>
          <p:cNvSpPr/>
          <p:nvPr/>
        </p:nvSpPr>
        <p:spPr>
          <a:xfrm rot="5400000">
            <a:off x="8323262" y="1294944"/>
            <a:ext cx="781800" cy="114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g3aeaee75853_1_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900" y="2059225"/>
            <a:ext cx="8590799" cy="4798764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g3aeaee75853_1_52"/>
          <p:cNvSpPr txBox="1">
            <a:spLocks noGrp="1"/>
          </p:cNvSpPr>
          <p:nvPr>
            <p:ph type="title"/>
          </p:nvPr>
        </p:nvSpPr>
        <p:spPr>
          <a:xfrm>
            <a:off x="80450" y="842349"/>
            <a:ext cx="7549500" cy="7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80"/>
              <a:buFont typeface="Calibri"/>
              <a:buNone/>
            </a:pPr>
            <a:r>
              <a:rPr lang="en-US" sz="2980" b="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rPr>
              <a:t>Admin User Journey</a:t>
            </a:r>
            <a:endParaRPr sz="1000" b="0">
              <a:solidFill>
                <a:schemeClr val="lt1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"/>
          <p:cNvSpPr/>
          <p:nvPr/>
        </p:nvSpPr>
        <p:spPr>
          <a:xfrm>
            <a:off x="0" y="0"/>
            <a:ext cx="9143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 txBox="1">
            <a:spLocks noGrp="1"/>
          </p:cNvSpPr>
          <p:nvPr>
            <p:ph type="title"/>
          </p:nvPr>
        </p:nvSpPr>
        <p:spPr>
          <a:xfrm>
            <a:off x="886225" y="157400"/>
            <a:ext cx="7265700" cy="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</a:pPr>
            <a:r>
              <a:rPr lang="en-US" sz="3500">
                <a:latin typeface="Lexend"/>
                <a:ea typeface="Lexend"/>
                <a:cs typeface="Lexend"/>
                <a:sym typeface="Lexend"/>
              </a:rPr>
              <a:t>2NF Relational Model Diagram</a:t>
            </a:r>
            <a:endParaRPr sz="3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8"/>
          <p:cNvSpPr/>
          <p:nvPr/>
        </p:nvSpPr>
        <p:spPr>
          <a:xfrm rot="10800000">
            <a:off x="-6" y="957169"/>
            <a:ext cx="8590800" cy="781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0" name="Google Shape;210;p8" title="3363_data_modeling_mid-point_pitc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084569"/>
            <a:ext cx="9144003" cy="4500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6"/>
          <p:cNvSpPr/>
          <p:nvPr/>
        </p:nvSpPr>
        <p:spPr>
          <a:xfrm>
            <a:off x="0" y="0"/>
            <a:ext cx="9143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6" name="Google Shape;216;p6"/>
          <p:cNvGrpSpPr/>
          <p:nvPr/>
        </p:nvGrpSpPr>
        <p:grpSpPr>
          <a:xfrm>
            <a:off x="0" y="1216597"/>
            <a:ext cx="548639" cy="673460"/>
            <a:chOff x="3940602" y="308034"/>
            <a:chExt cx="2116791" cy="3428999"/>
          </a:xfrm>
        </p:grpSpPr>
        <p:sp>
          <p:nvSpPr>
            <p:cNvPr id="217" name="Google Shape;217;p6"/>
            <p:cNvSpPr/>
            <p:nvPr/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6"/>
            <p:cNvSpPr/>
            <p:nvPr/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6"/>
            <p:cNvSpPr/>
            <p:nvPr/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0" name="Google Shape;220;p6"/>
          <p:cNvSpPr txBox="1">
            <a:spLocks noGrp="1"/>
          </p:cNvSpPr>
          <p:nvPr>
            <p:ph type="title"/>
          </p:nvPr>
        </p:nvSpPr>
        <p:spPr>
          <a:xfrm>
            <a:off x="843450" y="95699"/>
            <a:ext cx="7457100" cy="9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</a:pPr>
            <a:r>
              <a:rPr lang="en-US" sz="4200">
                <a:latin typeface="Lexend SemiBold"/>
                <a:ea typeface="Lexend SemiBold"/>
                <a:cs typeface="Lexend SemiBold"/>
                <a:sym typeface="Lexend SemiBold"/>
              </a:rPr>
              <a:t>Landing Page Demo</a:t>
            </a:r>
            <a:endParaRPr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cxnSp>
        <p:nvCxnSpPr>
          <p:cNvPr id="221" name="Google Shape;221;p6"/>
          <p:cNvCxnSpPr/>
          <p:nvPr/>
        </p:nvCxnSpPr>
        <p:spPr>
          <a:xfrm rot="10800000">
            <a:off x="628650" y="6485313"/>
            <a:ext cx="7886700" cy="0"/>
          </a:xfrm>
          <a:prstGeom prst="straightConnector1">
            <a:avLst/>
          </a:prstGeom>
          <a:noFill/>
          <a:ln w="571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22" name="Google Shape;222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088" y="1216600"/>
            <a:ext cx="7751823" cy="49849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"/>
          <p:cNvSpPr txBox="1">
            <a:spLocks noGrp="1"/>
          </p:cNvSpPr>
          <p:nvPr>
            <p:ph type="title"/>
          </p:nvPr>
        </p:nvSpPr>
        <p:spPr>
          <a:xfrm>
            <a:off x="1108200" y="178327"/>
            <a:ext cx="69276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30"/>
              <a:buFont typeface="Calibri"/>
              <a:buNone/>
            </a:pPr>
            <a:r>
              <a:rPr lang="en-US" sz="4130">
                <a:latin typeface="Lexend SemiBold"/>
                <a:ea typeface="Lexend SemiBold"/>
                <a:cs typeface="Lexend SemiBold"/>
                <a:sym typeface="Lexend SemiBold"/>
              </a:rPr>
              <a:t>User Action Demo</a:t>
            </a:r>
            <a:endParaRPr sz="3859"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grpSp>
        <p:nvGrpSpPr>
          <p:cNvPr id="228" name="Google Shape;228;p7"/>
          <p:cNvGrpSpPr/>
          <p:nvPr/>
        </p:nvGrpSpPr>
        <p:grpSpPr>
          <a:xfrm>
            <a:off x="-1" y="825418"/>
            <a:ext cx="8771312" cy="782176"/>
            <a:chOff x="-2" y="1998368"/>
            <a:chExt cx="11695083" cy="782176"/>
          </a:xfrm>
        </p:grpSpPr>
        <p:sp>
          <p:nvSpPr>
            <p:cNvPr id="229" name="Google Shape;229;p7"/>
            <p:cNvSpPr/>
            <p:nvPr/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7"/>
            <p:cNvSpPr/>
            <p:nvPr/>
          </p:nvSpPr>
          <p:spPr>
            <a:xfrm rot="10800000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1" name="Google Shape;231;p7"/>
          <p:cNvSpPr txBox="1">
            <a:spLocks noGrp="1"/>
          </p:cNvSpPr>
          <p:nvPr>
            <p:ph type="body" idx="1"/>
          </p:nvPr>
        </p:nvSpPr>
        <p:spPr>
          <a:xfrm>
            <a:off x="100175" y="955500"/>
            <a:ext cx="8368500" cy="5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36004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70"/>
              <a:buFont typeface="Lexend"/>
              <a:buAutoNum type="arabicPeriod"/>
            </a:pPr>
            <a:r>
              <a:rPr lang="en-US" sz="207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Customer Sign Up, Add Delivery Address &amp; Payment Card</a:t>
            </a:r>
            <a:endParaRPr sz="207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2" name="Google Shape;23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1000" y="1777652"/>
            <a:ext cx="3284774" cy="482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42650" y="1777638"/>
            <a:ext cx="2602175" cy="2284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57038" y="4232026"/>
            <a:ext cx="2573401" cy="2517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aeaee75853_1_26"/>
          <p:cNvSpPr txBox="1">
            <a:spLocks noGrp="1"/>
          </p:cNvSpPr>
          <p:nvPr>
            <p:ph type="title"/>
          </p:nvPr>
        </p:nvSpPr>
        <p:spPr>
          <a:xfrm>
            <a:off x="1108200" y="178327"/>
            <a:ext cx="69276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30"/>
              <a:buFont typeface="Calibri"/>
              <a:buNone/>
            </a:pPr>
            <a:r>
              <a:rPr lang="en-US" sz="4130">
                <a:latin typeface="Lexend SemiBold"/>
                <a:ea typeface="Lexend SemiBold"/>
                <a:cs typeface="Lexend SemiBold"/>
                <a:sym typeface="Lexend SemiBold"/>
              </a:rPr>
              <a:t>User Action Demo</a:t>
            </a:r>
            <a:endParaRPr sz="3859"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grpSp>
        <p:nvGrpSpPr>
          <p:cNvPr id="240" name="Google Shape;240;g3aeaee75853_1_26"/>
          <p:cNvGrpSpPr/>
          <p:nvPr/>
        </p:nvGrpSpPr>
        <p:grpSpPr>
          <a:xfrm>
            <a:off x="-5" y="825418"/>
            <a:ext cx="8771316" cy="782176"/>
            <a:chOff x="-7" y="1998368"/>
            <a:chExt cx="11695088" cy="782176"/>
          </a:xfrm>
        </p:grpSpPr>
        <p:sp>
          <p:nvSpPr>
            <p:cNvPr id="241" name="Google Shape;241;g3aeaee75853_1_26"/>
            <p:cNvSpPr/>
            <p:nvPr/>
          </p:nvSpPr>
          <p:spPr>
            <a:xfrm rot="5400000">
              <a:off x="11227981" y="2313068"/>
              <a:ext cx="781800" cy="152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g3aeaee75853_1_26"/>
            <p:cNvSpPr/>
            <p:nvPr/>
          </p:nvSpPr>
          <p:spPr>
            <a:xfrm rot="10800000">
              <a:off x="-7" y="1998744"/>
              <a:ext cx="11454600" cy="7818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3" name="Google Shape;243;g3aeaee75853_1_26"/>
          <p:cNvSpPr txBox="1">
            <a:spLocks noGrp="1"/>
          </p:cNvSpPr>
          <p:nvPr>
            <p:ph type="body" idx="1"/>
          </p:nvPr>
        </p:nvSpPr>
        <p:spPr>
          <a:xfrm>
            <a:off x="100175" y="955507"/>
            <a:ext cx="8038500" cy="5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2.   Customer Add Dish(es) to Cart &amp; Check out</a:t>
            </a:r>
            <a:endParaRPr sz="33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4" name="Google Shape;244;g3aeaee75853_1_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100" y="2563094"/>
            <a:ext cx="4837678" cy="3772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g3aeaee75853_1_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8924" y="1897377"/>
            <a:ext cx="3642849" cy="482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Google Shape;250;g3aeaee75853_1_76"/>
          <p:cNvGrpSpPr/>
          <p:nvPr/>
        </p:nvGrpSpPr>
        <p:grpSpPr>
          <a:xfrm>
            <a:off x="62" y="1216597"/>
            <a:ext cx="548661" cy="673456"/>
            <a:chOff x="3940602" y="308034"/>
            <a:chExt cx="2116748" cy="3429000"/>
          </a:xfrm>
        </p:grpSpPr>
        <p:sp>
          <p:nvSpPr>
            <p:cNvPr id="251" name="Google Shape;251;g3aeaee75853_1_76"/>
            <p:cNvSpPr/>
            <p:nvPr/>
          </p:nvSpPr>
          <p:spPr>
            <a:xfrm>
              <a:off x="3940602" y="308034"/>
              <a:ext cx="566700" cy="3429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g3aeaee75853_1_76"/>
            <p:cNvSpPr/>
            <p:nvPr/>
          </p:nvSpPr>
          <p:spPr>
            <a:xfrm>
              <a:off x="4715626" y="308034"/>
              <a:ext cx="566700" cy="3429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g3aeaee75853_1_76"/>
            <p:cNvSpPr/>
            <p:nvPr/>
          </p:nvSpPr>
          <p:spPr>
            <a:xfrm>
              <a:off x="5490650" y="308034"/>
              <a:ext cx="566700" cy="3429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4" name="Google Shape;254;g3aeaee75853_1_76"/>
          <p:cNvSpPr txBox="1">
            <a:spLocks noGrp="1"/>
          </p:cNvSpPr>
          <p:nvPr>
            <p:ph type="title"/>
          </p:nvPr>
        </p:nvSpPr>
        <p:spPr>
          <a:xfrm>
            <a:off x="843450" y="47874"/>
            <a:ext cx="7457100" cy="11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</a:pPr>
            <a:r>
              <a:rPr lang="en-US" sz="4000" b="1">
                <a:latin typeface="Lexend"/>
                <a:ea typeface="Lexend"/>
                <a:cs typeface="Lexend"/>
                <a:sym typeface="Lexend"/>
              </a:rPr>
              <a:t>Stored Procedures Demo</a:t>
            </a:r>
            <a:endParaRPr sz="4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g3aeaee75853_1_76"/>
          <p:cNvSpPr txBox="1">
            <a:spLocks noGrp="1"/>
          </p:cNvSpPr>
          <p:nvPr>
            <p:ph type="body" idx="1"/>
          </p:nvPr>
        </p:nvSpPr>
        <p:spPr>
          <a:xfrm>
            <a:off x="229575" y="2095050"/>
            <a:ext cx="4342500" cy="30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53535"/>
              </a:buClr>
              <a:buSzPts val="1800"/>
              <a:buFont typeface="Lexend"/>
              <a:buChar char="•"/>
            </a:pPr>
            <a:r>
              <a:rPr lang="en-US" sz="1800" u="sng">
                <a:solidFill>
                  <a:srgbClr val="353535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Purpose</a:t>
            </a:r>
            <a:r>
              <a:rPr lang="en-US" sz="1800">
                <a:solidFill>
                  <a:srgbClr val="353535"/>
                </a:solidFill>
                <a:latin typeface="Lexend"/>
                <a:ea typeface="Lexend"/>
                <a:cs typeface="Lexend"/>
                <a:sym typeface="Lexend"/>
              </a:rPr>
              <a:t>: For a given user, return every non-cancelled order with its total amount and the platform profit (10% of the order total).</a:t>
            </a:r>
            <a:endParaRPr sz="1800">
              <a:solidFill>
                <a:srgbClr val="353535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53535"/>
              </a:buClr>
              <a:buSzPts val="1800"/>
              <a:buFont typeface="Lexend"/>
              <a:buChar char="•"/>
            </a:pPr>
            <a:r>
              <a:rPr lang="en-US" sz="1800" u="sng">
                <a:solidFill>
                  <a:srgbClr val="353535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Inputs</a:t>
            </a:r>
            <a:r>
              <a:rPr lang="en-US" sz="1800">
                <a:solidFill>
                  <a:srgbClr val="353535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US" sz="1800">
                <a:solidFill>
                  <a:srgbClr val="353535"/>
                </a:solidFill>
                <a:highlight>
                  <a:srgbClr val="FFF2CC"/>
                </a:highlight>
                <a:latin typeface="Lexend"/>
                <a:ea typeface="Lexend"/>
                <a:cs typeface="Lexend"/>
                <a:sym typeface="Lexend"/>
              </a:rPr>
              <a:t>pUserId</a:t>
            </a:r>
            <a:r>
              <a:rPr lang="en-US" sz="1800">
                <a:solidFill>
                  <a:srgbClr val="353535"/>
                </a:solidFill>
                <a:latin typeface="Lexend"/>
                <a:ea typeface="Lexend"/>
                <a:cs typeface="Lexend"/>
                <a:sym typeface="Lexend"/>
              </a:rPr>
              <a:t> (INT)</a:t>
            </a:r>
            <a:endParaRPr sz="1800">
              <a:solidFill>
                <a:srgbClr val="353535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53535"/>
              </a:buClr>
              <a:buSzPts val="1800"/>
              <a:buFont typeface="Lexend"/>
              <a:buChar char="•"/>
            </a:pPr>
            <a:r>
              <a:rPr lang="en-US" sz="1800" u="sng">
                <a:solidFill>
                  <a:srgbClr val="353535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Output fields</a:t>
            </a:r>
            <a:r>
              <a:rPr lang="en-US" sz="1800">
                <a:solidFill>
                  <a:srgbClr val="353535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US" sz="1800">
                <a:solidFill>
                  <a:srgbClr val="353535"/>
                </a:solidFill>
                <a:highlight>
                  <a:srgbClr val="D0E0E3"/>
                </a:highlight>
                <a:latin typeface="Lexend"/>
                <a:ea typeface="Lexend"/>
                <a:cs typeface="Lexend"/>
                <a:sym typeface="Lexend"/>
              </a:rPr>
              <a:t>orderID</a:t>
            </a:r>
            <a:r>
              <a:rPr lang="en-US" sz="1800">
                <a:solidFill>
                  <a:srgbClr val="353535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US" sz="1800">
                <a:solidFill>
                  <a:srgbClr val="353535"/>
                </a:solidFill>
                <a:highlight>
                  <a:srgbClr val="D0E0E3"/>
                </a:highlight>
                <a:latin typeface="Lexend"/>
                <a:ea typeface="Lexend"/>
                <a:cs typeface="Lexend"/>
                <a:sym typeface="Lexend"/>
              </a:rPr>
              <a:t>orderTime</a:t>
            </a:r>
            <a:r>
              <a:rPr lang="en-US" sz="1800">
                <a:solidFill>
                  <a:srgbClr val="353535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US" sz="1800">
                <a:solidFill>
                  <a:srgbClr val="353535"/>
                </a:solidFill>
                <a:highlight>
                  <a:srgbClr val="D0E0E3"/>
                </a:highlight>
                <a:latin typeface="Lexend"/>
                <a:ea typeface="Lexend"/>
                <a:cs typeface="Lexend"/>
                <a:sym typeface="Lexend"/>
              </a:rPr>
              <a:t>restID</a:t>
            </a:r>
            <a:r>
              <a:rPr lang="en-US" sz="1800">
                <a:solidFill>
                  <a:srgbClr val="353535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US" sz="1800">
                <a:solidFill>
                  <a:srgbClr val="353535"/>
                </a:solidFill>
                <a:highlight>
                  <a:srgbClr val="D0E0E3"/>
                </a:highlight>
                <a:latin typeface="Lexend"/>
                <a:ea typeface="Lexend"/>
                <a:cs typeface="Lexend"/>
                <a:sym typeface="Lexend"/>
              </a:rPr>
              <a:t>restName</a:t>
            </a:r>
            <a:r>
              <a:rPr lang="en-US" sz="1800">
                <a:solidFill>
                  <a:srgbClr val="353535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US" sz="1800">
                <a:solidFill>
                  <a:srgbClr val="353535"/>
                </a:solidFill>
                <a:highlight>
                  <a:srgbClr val="D0E0E3"/>
                </a:highlight>
                <a:latin typeface="Lexend"/>
                <a:ea typeface="Lexend"/>
                <a:cs typeface="Lexend"/>
                <a:sym typeface="Lexend"/>
              </a:rPr>
              <a:t>totalAmount</a:t>
            </a:r>
            <a:r>
              <a:rPr lang="en-US" sz="1800">
                <a:solidFill>
                  <a:srgbClr val="353535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US" sz="1800">
                <a:solidFill>
                  <a:srgbClr val="353535"/>
                </a:solidFill>
                <a:highlight>
                  <a:srgbClr val="D0E0E3"/>
                </a:highlight>
                <a:latin typeface="Lexend"/>
                <a:ea typeface="Lexend"/>
                <a:cs typeface="Lexend"/>
                <a:sym typeface="Lexend"/>
              </a:rPr>
              <a:t>profit </a:t>
            </a:r>
            <a:r>
              <a:rPr lang="en-US" sz="1800">
                <a:solidFill>
                  <a:srgbClr val="353535"/>
                </a:solidFill>
                <a:latin typeface="Lexend"/>
                <a:ea typeface="Lexend"/>
                <a:cs typeface="Lexend"/>
                <a:sym typeface="Lexend"/>
              </a:rPr>
              <a:t>(10%)</a:t>
            </a:r>
            <a:endParaRPr sz="1800">
              <a:solidFill>
                <a:srgbClr val="35353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6" name="Google Shape;256;g3aeaee75853_1_76"/>
          <p:cNvCxnSpPr/>
          <p:nvPr/>
        </p:nvCxnSpPr>
        <p:spPr>
          <a:xfrm rot="10800000">
            <a:off x="628650" y="6485313"/>
            <a:ext cx="7886700" cy="0"/>
          </a:xfrm>
          <a:prstGeom prst="straightConnector1">
            <a:avLst/>
          </a:prstGeom>
          <a:noFill/>
          <a:ln w="571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7" name="Google Shape;257;g3aeaee75853_1_76"/>
          <p:cNvSpPr txBox="1"/>
          <p:nvPr/>
        </p:nvSpPr>
        <p:spPr>
          <a:xfrm>
            <a:off x="751425" y="1216600"/>
            <a:ext cx="70293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353535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Stored Procedure 1</a:t>
            </a:r>
            <a:r>
              <a:rPr lang="en-US" sz="2300">
                <a:solidFill>
                  <a:schemeClr val="dk1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:</a:t>
            </a:r>
            <a:r>
              <a:rPr lang="en-US" sz="23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en-US" sz="2200" b="1">
                <a:solidFill>
                  <a:srgbClr val="006AB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sp_user_order_profit</a:t>
            </a:r>
            <a:endParaRPr sz="2200" b="1">
              <a:solidFill>
                <a:srgbClr val="006AB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8" name="Google Shape;258;g3aeaee75853_1_76"/>
          <p:cNvSpPr txBox="1"/>
          <p:nvPr/>
        </p:nvSpPr>
        <p:spPr>
          <a:xfrm>
            <a:off x="229575" y="5303050"/>
            <a:ext cx="8630700" cy="10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53535"/>
              </a:buClr>
              <a:buSzPts val="1800"/>
              <a:buFont typeface="Lexend"/>
              <a:buChar char="•"/>
            </a:pPr>
            <a:r>
              <a:rPr lang="en-US" sz="1800" u="sng">
                <a:solidFill>
                  <a:srgbClr val="353535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Why it helps</a:t>
            </a:r>
            <a:r>
              <a:rPr lang="en-US" sz="1800">
                <a:solidFill>
                  <a:srgbClr val="353535"/>
                </a:solidFill>
                <a:latin typeface="Lexend"/>
                <a:ea typeface="Lexend"/>
                <a:cs typeface="Lexend"/>
                <a:sym typeface="Lexend"/>
              </a:rPr>
              <a:t>: Encapsulates multi-table aggregation in the DB, reducing duplicate SQL in the app and cutting round-trips/compute on the backend.</a:t>
            </a:r>
            <a:endParaRPr sz="1800"/>
          </a:p>
        </p:txBody>
      </p:sp>
      <p:pic>
        <p:nvPicPr>
          <p:cNvPr id="259" name="Google Shape;259;g3aeaee75853_1_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3150" y="2375496"/>
            <a:ext cx="4267124" cy="23380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4" name="Google Shape;264;g3aeaee75853_1_90"/>
          <p:cNvGrpSpPr/>
          <p:nvPr/>
        </p:nvGrpSpPr>
        <p:grpSpPr>
          <a:xfrm>
            <a:off x="62" y="1216597"/>
            <a:ext cx="548661" cy="673456"/>
            <a:chOff x="3940602" y="308034"/>
            <a:chExt cx="2116748" cy="3429000"/>
          </a:xfrm>
        </p:grpSpPr>
        <p:sp>
          <p:nvSpPr>
            <p:cNvPr id="265" name="Google Shape;265;g3aeaee75853_1_90"/>
            <p:cNvSpPr/>
            <p:nvPr/>
          </p:nvSpPr>
          <p:spPr>
            <a:xfrm>
              <a:off x="3940602" y="308034"/>
              <a:ext cx="566700" cy="3429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g3aeaee75853_1_90"/>
            <p:cNvSpPr/>
            <p:nvPr/>
          </p:nvSpPr>
          <p:spPr>
            <a:xfrm>
              <a:off x="4715626" y="308034"/>
              <a:ext cx="566700" cy="3429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g3aeaee75853_1_90"/>
            <p:cNvSpPr/>
            <p:nvPr/>
          </p:nvSpPr>
          <p:spPr>
            <a:xfrm>
              <a:off x="5490650" y="308034"/>
              <a:ext cx="566700" cy="3429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8" name="Google Shape;268;g3aeaee75853_1_90"/>
          <p:cNvSpPr txBox="1">
            <a:spLocks noGrp="1"/>
          </p:cNvSpPr>
          <p:nvPr>
            <p:ph type="title"/>
          </p:nvPr>
        </p:nvSpPr>
        <p:spPr>
          <a:xfrm>
            <a:off x="843450" y="47874"/>
            <a:ext cx="7457100" cy="11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</a:pPr>
            <a:r>
              <a:rPr lang="en-US" sz="4000" b="1">
                <a:latin typeface="Lexend"/>
                <a:ea typeface="Lexend"/>
                <a:cs typeface="Lexend"/>
                <a:sym typeface="Lexend"/>
              </a:rPr>
              <a:t>Stored Procedures Demo</a:t>
            </a:r>
            <a:endParaRPr sz="4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g3aeaee75853_1_90"/>
          <p:cNvSpPr txBox="1">
            <a:spLocks noGrp="1"/>
          </p:cNvSpPr>
          <p:nvPr>
            <p:ph type="body" idx="1"/>
          </p:nvPr>
        </p:nvSpPr>
        <p:spPr>
          <a:xfrm>
            <a:off x="417000" y="1982500"/>
            <a:ext cx="4908600" cy="33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53535"/>
              </a:buClr>
              <a:buSzPts val="1800"/>
              <a:buFont typeface="Lexend"/>
              <a:buChar char="•"/>
            </a:pPr>
            <a:r>
              <a:rPr lang="en-US" sz="1800" u="sng">
                <a:solidFill>
                  <a:srgbClr val="353535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Purpose</a:t>
            </a:r>
            <a:r>
              <a:rPr lang="en-US" sz="1800">
                <a:solidFill>
                  <a:srgbClr val="353535"/>
                </a:solidFill>
                <a:latin typeface="Lexend"/>
                <a:ea typeface="Lexend"/>
                <a:cs typeface="Lexend"/>
                <a:sym typeface="Lexend"/>
              </a:rPr>
              <a:t>: Aggregate total revenue and platform profit (10%) over a date range, optionally filtered by a specific restaurant.</a:t>
            </a:r>
            <a:endParaRPr sz="1800">
              <a:solidFill>
                <a:srgbClr val="353535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53535"/>
              </a:buClr>
              <a:buSzPts val="1800"/>
              <a:buFont typeface="Lexend"/>
              <a:buChar char="•"/>
            </a:pPr>
            <a:r>
              <a:rPr lang="en-US" sz="1800" u="sng">
                <a:solidFill>
                  <a:srgbClr val="353535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Inputs</a:t>
            </a:r>
            <a:r>
              <a:rPr lang="en-US" sz="1800">
                <a:solidFill>
                  <a:srgbClr val="353535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US" sz="1800">
                <a:solidFill>
                  <a:srgbClr val="353535"/>
                </a:solidFill>
                <a:highlight>
                  <a:srgbClr val="FFF2CC"/>
                </a:highlight>
                <a:latin typeface="Lexend"/>
                <a:ea typeface="Lexend"/>
                <a:cs typeface="Lexend"/>
                <a:sym typeface="Lexend"/>
              </a:rPr>
              <a:t>pStart </a:t>
            </a:r>
            <a:r>
              <a:rPr lang="en-US" sz="1800">
                <a:solidFill>
                  <a:srgbClr val="353535"/>
                </a:solidFill>
                <a:latin typeface="Lexend"/>
                <a:ea typeface="Lexend"/>
                <a:cs typeface="Lexend"/>
                <a:sym typeface="Lexend"/>
              </a:rPr>
              <a:t>(DATETIME), </a:t>
            </a:r>
            <a:r>
              <a:rPr lang="en-US" sz="1800">
                <a:solidFill>
                  <a:srgbClr val="353535"/>
                </a:solidFill>
                <a:highlight>
                  <a:srgbClr val="FFF2CC"/>
                </a:highlight>
                <a:latin typeface="Lexend"/>
                <a:ea typeface="Lexend"/>
                <a:cs typeface="Lexend"/>
                <a:sym typeface="Lexend"/>
              </a:rPr>
              <a:t>pEnd </a:t>
            </a:r>
            <a:r>
              <a:rPr lang="en-US" sz="1800">
                <a:solidFill>
                  <a:srgbClr val="353535"/>
                </a:solidFill>
                <a:latin typeface="Lexend"/>
                <a:ea typeface="Lexend"/>
                <a:cs typeface="Lexend"/>
                <a:sym typeface="Lexend"/>
              </a:rPr>
              <a:t>(DATETIME), </a:t>
            </a:r>
            <a:r>
              <a:rPr lang="en-US" sz="1800">
                <a:solidFill>
                  <a:srgbClr val="353535"/>
                </a:solidFill>
                <a:highlight>
                  <a:srgbClr val="FFF2CC"/>
                </a:highlight>
                <a:latin typeface="Lexend"/>
                <a:ea typeface="Lexend"/>
                <a:cs typeface="Lexend"/>
                <a:sym typeface="Lexend"/>
              </a:rPr>
              <a:t>pRestId </a:t>
            </a:r>
            <a:r>
              <a:rPr lang="en-US" sz="1800">
                <a:solidFill>
                  <a:srgbClr val="353535"/>
                </a:solidFill>
                <a:latin typeface="Lexend"/>
                <a:ea typeface="Lexend"/>
                <a:cs typeface="Lexend"/>
                <a:sym typeface="Lexend"/>
              </a:rPr>
              <a:t>(INT, nullable for “all restaurants”)</a:t>
            </a:r>
            <a:endParaRPr sz="1800">
              <a:solidFill>
                <a:srgbClr val="353535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53535"/>
              </a:buClr>
              <a:buSzPts val="1800"/>
              <a:buFont typeface="Lexend"/>
              <a:buChar char="•"/>
            </a:pPr>
            <a:r>
              <a:rPr lang="en-US" sz="1800" u="sng">
                <a:solidFill>
                  <a:srgbClr val="353535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Output fields</a:t>
            </a:r>
            <a:r>
              <a:rPr lang="en-US" sz="1800">
                <a:solidFill>
                  <a:srgbClr val="353535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US" sz="1800">
                <a:solidFill>
                  <a:srgbClr val="353535"/>
                </a:solidFill>
                <a:highlight>
                  <a:srgbClr val="D0E0E3"/>
                </a:highlight>
                <a:latin typeface="Lexend"/>
                <a:ea typeface="Lexend"/>
                <a:cs typeface="Lexend"/>
                <a:sym typeface="Lexend"/>
              </a:rPr>
              <a:t>restName,</a:t>
            </a:r>
            <a:r>
              <a:rPr lang="en-US" sz="1800">
                <a:solidFill>
                  <a:srgbClr val="353535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1800">
                <a:solidFill>
                  <a:srgbClr val="353535"/>
                </a:solidFill>
                <a:highlight>
                  <a:srgbClr val="D0E0E3"/>
                </a:highlight>
                <a:latin typeface="Lexend"/>
                <a:ea typeface="Lexend"/>
                <a:cs typeface="Lexend"/>
                <a:sym typeface="Lexend"/>
              </a:rPr>
              <a:t>totalAmount</a:t>
            </a:r>
            <a:r>
              <a:rPr lang="en-US" sz="1800">
                <a:solidFill>
                  <a:srgbClr val="353535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1800">
                <a:solidFill>
                  <a:srgbClr val="353535"/>
                </a:solidFill>
                <a:highlight>
                  <a:srgbClr val="D0E0E3"/>
                </a:highlight>
                <a:latin typeface="Lexend"/>
                <a:ea typeface="Lexend"/>
                <a:cs typeface="Lexend"/>
                <a:sym typeface="Lexend"/>
              </a:rPr>
              <a:t>profit </a:t>
            </a:r>
            <a:r>
              <a:rPr lang="en-US" sz="1800">
                <a:solidFill>
                  <a:srgbClr val="353535"/>
                </a:solidFill>
                <a:latin typeface="Lexend"/>
                <a:ea typeface="Lexend"/>
                <a:cs typeface="Lexend"/>
                <a:sym typeface="Lexend"/>
              </a:rPr>
              <a:t>(10%)</a:t>
            </a:r>
            <a:endParaRPr sz="1800">
              <a:solidFill>
                <a:srgbClr val="353535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500">
              <a:solidFill>
                <a:srgbClr val="35353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0" name="Google Shape;270;g3aeaee75853_1_90"/>
          <p:cNvCxnSpPr/>
          <p:nvPr/>
        </p:nvCxnSpPr>
        <p:spPr>
          <a:xfrm rot="10800000">
            <a:off x="628650" y="6485313"/>
            <a:ext cx="7886700" cy="0"/>
          </a:xfrm>
          <a:prstGeom prst="straightConnector1">
            <a:avLst/>
          </a:prstGeom>
          <a:noFill/>
          <a:ln w="571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1" name="Google Shape;271;g3aeaee75853_1_90"/>
          <p:cNvSpPr txBox="1"/>
          <p:nvPr/>
        </p:nvSpPr>
        <p:spPr>
          <a:xfrm>
            <a:off x="751425" y="1216600"/>
            <a:ext cx="70293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353535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Stored Procedure 2</a:t>
            </a:r>
            <a:r>
              <a:rPr lang="en-US" sz="2300">
                <a:solidFill>
                  <a:schemeClr val="dk1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:</a:t>
            </a:r>
            <a:r>
              <a:rPr lang="en-US" sz="23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en-US" sz="2200" b="1">
                <a:solidFill>
                  <a:srgbClr val="006AB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sp_revenue_range</a:t>
            </a:r>
            <a:endParaRPr sz="2200" b="1">
              <a:solidFill>
                <a:srgbClr val="006AB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2" name="Google Shape;272;g3aeaee75853_1_90"/>
          <p:cNvSpPr txBox="1"/>
          <p:nvPr/>
        </p:nvSpPr>
        <p:spPr>
          <a:xfrm>
            <a:off x="417000" y="5234063"/>
            <a:ext cx="8310000" cy="10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53535"/>
              </a:buClr>
              <a:buSzPts val="1800"/>
              <a:buFont typeface="Lexend"/>
              <a:buChar char="•"/>
            </a:pPr>
            <a:r>
              <a:rPr lang="en-US" sz="1800" u="sng">
                <a:solidFill>
                  <a:srgbClr val="353535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Why it helps</a:t>
            </a:r>
            <a:r>
              <a:rPr lang="en-US" sz="1800">
                <a:solidFill>
                  <a:srgbClr val="353535"/>
                </a:solidFill>
                <a:latin typeface="Lexend"/>
                <a:ea typeface="Lexend"/>
                <a:cs typeface="Lexend"/>
                <a:sym typeface="Lexend"/>
              </a:rPr>
              <a:t>: Centralizes time-window + restaurant-level reporting logic; lets the DB do the heavy aggregation, which improves performance and keeps reporting logic consistent across the app.</a:t>
            </a:r>
            <a:endParaRPr sz="1800"/>
          </a:p>
        </p:txBody>
      </p:sp>
      <p:pic>
        <p:nvPicPr>
          <p:cNvPr id="273" name="Google Shape;273;g3aeaee75853_1_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8800" y="1890050"/>
            <a:ext cx="3161451" cy="33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8" name="Google Shape;278;g3ac886822bd_0_0"/>
          <p:cNvGrpSpPr/>
          <p:nvPr/>
        </p:nvGrpSpPr>
        <p:grpSpPr>
          <a:xfrm>
            <a:off x="62" y="1216597"/>
            <a:ext cx="548661" cy="673456"/>
            <a:chOff x="3940602" y="308034"/>
            <a:chExt cx="2116748" cy="3429000"/>
          </a:xfrm>
        </p:grpSpPr>
        <p:sp>
          <p:nvSpPr>
            <p:cNvPr id="279" name="Google Shape;279;g3ac886822bd_0_0"/>
            <p:cNvSpPr/>
            <p:nvPr/>
          </p:nvSpPr>
          <p:spPr>
            <a:xfrm>
              <a:off x="3940602" y="308034"/>
              <a:ext cx="566700" cy="3429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g3ac886822bd_0_0"/>
            <p:cNvSpPr/>
            <p:nvPr/>
          </p:nvSpPr>
          <p:spPr>
            <a:xfrm>
              <a:off x="4715626" y="308034"/>
              <a:ext cx="566700" cy="3429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g3ac886822bd_0_0"/>
            <p:cNvSpPr/>
            <p:nvPr/>
          </p:nvSpPr>
          <p:spPr>
            <a:xfrm>
              <a:off x="5490650" y="308034"/>
              <a:ext cx="566700" cy="3429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2" name="Google Shape;282;g3ac886822bd_0_0"/>
          <p:cNvSpPr txBox="1">
            <a:spLocks noGrp="1"/>
          </p:cNvSpPr>
          <p:nvPr>
            <p:ph type="title"/>
          </p:nvPr>
        </p:nvSpPr>
        <p:spPr>
          <a:xfrm>
            <a:off x="843450" y="318401"/>
            <a:ext cx="7457100" cy="8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</a:pPr>
            <a:r>
              <a:rPr lang="en-US" sz="4000" b="1">
                <a:latin typeface="Sora"/>
                <a:ea typeface="Sora"/>
                <a:cs typeface="Sora"/>
                <a:sym typeface="Sora"/>
              </a:rPr>
              <a:t>Takeaways</a:t>
            </a:r>
            <a:endParaRPr sz="4000" b="1"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283" name="Google Shape;283;g3ac886822bd_0_0"/>
          <p:cNvCxnSpPr/>
          <p:nvPr/>
        </p:nvCxnSpPr>
        <p:spPr>
          <a:xfrm rot="10800000">
            <a:off x="628650" y="6485313"/>
            <a:ext cx="7886700" cy="0"/>
          </a:xfrm>
          <a:prstGeom prst="straightConnector1">
            <a:avLst/>
          </a:prstGeom>
          <a:noFill/>
          <a:ln w="571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4" name="Google Shape;284;g3ac886822bd_0_0"/>
          <p:cNvSpPr txBox="1"/>
          <p:nvPr/>
        </p:nvSpPr>
        <p:spPr>
          <a:xfrm>
            <a:off x="877050" y="1347975"/>
            <a:ext cx="7389900" cy="55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New technology used this project/semester </a:t>
            </a:r>
            <a:endParaRPr sz="2000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Lexend"/>
              <a:buChar char="●"/>
            </a:pPr>
            <a:r>
              <a:rPr lang="en-US" sz="1900">
                <a:latin typeface="Lexend"/>
                <a:ea typeface="Lexend"/>
                <a:cs typeface="Lexend"/>
                <a:sym typeface="Lexend"/>
              </a:rPr>
              <a:t>Docker 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Char char="○"/>
            </a:pPr>
            <a:r>
              <a:rPr lang="en-US" sz="1800">
                <a:latin typeface="Lexend"/>
                <a:ea typeface="Lexend"/>
                <a:cs typeface="Lexend"/>
                <a:sym typeface="Lexend"/>
              </a:rPr>
              <a:t>One definition, run anywhere, same environment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Char char="○"/>
            </a:pPr>
            <a:r>
              <a:rPr lang="en-US" sz="1800">
                <a:latin typeface="Lexend"/>
                <a:ea typeface="Lexend"/>
                <a:cs typeface="Lexend"/>
                <a:sym typeface="Lexend"/>
              </a:rPr>
              <a:t>Dependency isolation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Char char="○"/>
            </a:pPr>
            <a:r>
              <a:rPr lang="en-US" sz="1800">
                <a:latin typeface="Lexend"/>
                <a:ea typeface="Lexend"/>
                <a:cs typeface="Lexend"/>
                <a:sym typeface="Lexend"/>
              </a:rPr>
              <a:t>Demo-friendly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Lexend SemiBold"/>
                <a:ea typeface="Lexend SemiBold"/>
                <a:cs typeface="Lexend SemiBold"/>
                <a:sym typeface="Lexend SemiBold"/>
              </a:rPr>
              <a:t>Gains from the Dynamic Database Project</a:t>
            </a:r>
            <a:endParaRPr sz="2000"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Char char="●"/>
            </a:pPr>
            <a:r>
              <a:rPr lang="en-US" sz="1800">
                <a:latin typeface="Lexend"/>
                <a:ea typeface="Lexend"/>
                <a:cs typeface="Lexend"/>
                <a:sym typeface="Lexend"/>
              </a:rPr>
              <a:t>Moving from hardcoded data to live MySQL with CRUD (Create, Read, Update &amp; Delete) (users, restaurants, menus, orders, address book, payments) clarified relational design: PK/FK integrity, JOIN-based views, and how ENUM status drives UI logic (e.g., cancellable only when pending/confirmed).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Lexend"/>
              <a:buChar char="●"/>
            </a:pPr>
            <a:r>
              <a:rPr lang="en-US" sz="1800">
                <a:latin typeface="Lexend"/>
                <a:ea typeface="Lexend"/>
                <a:cs typeface="Lexend"/>
                <a:sym typeface="Lexend"/>
              </a:rPr>
              <a:t>Seeing the Admin dashboard and Revenue Report update instantly after frontend actions cemented the “single source of truth” concept.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1"/>
          <p:cNvSpPr/>
          <p:nvPr/>
        </p:nvSpPr>
        <p:spPr>
          <a:xfrm>
            <a:off x="0" y="0"/>
            <a:ext cx="9143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0" name="Google Shape;290;p11"/>
          <p:cNvGrpSpPr/>
          <p:nvPr/>
        </p:nvGrpSpPr>
        <p:grpSpPr>
          <a:xfrm>
            <a:off x="0" y="1216597"/>
            <a:ext cx="548639" cy="673460"/>
            <a:chOff x="3940602" y="308034"/>
            <a:chExt cx="2116791" cy="3428999"/>
          </a:xfrm>
        </p:grpSpPr>
        <p:sp>
          <p:nvSpPr>
            <p:cNvPr id="291" name="Google Shape;291;p11"/>
            <p:cNvSpPr/>
            <p:nvPr/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11"/>
            <p:cNvSpPr/>
            <p:nvPr/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11"/>
            <p:cNvSpPr/>
            <p:nvPr/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4" name="Google Shape;294;p11"/>
          <p:cNvSpPr/>
          <p:nvPr/>
        </p:nvSpPr>
        <p:spPr>
          <a:xfrm>
            <a:off x="548734" y="606229"/>
            <a:ext cx="8180700" cy="1894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dist="127000" dir="5400000" algn="t" rotWithShape="0">
              <a:srgbClr val="000000">
                <a:alpha val="1451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 txBox="1">
            <a:spLocks noGrp="1"/>
          </p:cNvSpPr>
          <p:nvPr>
            <p:ph type="title"/>
          </p:nvPr>
        </p:nvSpPr>
        <p:spPr>
          <a:xfrm>
            <a:off x="782735" y="776023"/>
            <a:ext cx="7457100" cy="15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</a:pPr>
            <a:r>
              <a:rPr lang="en-US" sz="4200" b="1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Extra Credit Work</a:t>
            </a:r>
            <a:endParaRPr b="1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6" name="Google Shape;296;p11"/>
          <p:cNvCxnSpPr/>
          <p:nvPr/>
        </p:nvCxnSpPr>
        <p:spPr>
          <a:xfrm rot="10800000">
            <a:off x="628650" y="6485313"/>
            <a:ext cx="7886700" cy="0"/>
          </a:xfrm>
          <a:prstGeom prst="straightConnector1">
            <a:avLst/>
          </a:prstGeom>
          <a:noFill/>
          <a:ln w="571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97" name="Google Shape;297;p11" title="d05d8d4fd76652f4e10fb1f1c7aefe9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2063" y="3176213"/>
            <a:ext cx="2418425" cy="229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2"/>
          <p:cNvSpPr/>
          <p:nvPr/>
        </p:nvSpPr>
        <p:spPr>
          <a:xfrm>
            <a:off x="-83525" y="-372050"/>
            <a:ext cx="9144000" cy="6857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3" name="Google Shape;303;p12"/>
          <p:cNvGrpSpPr/>
          <p:nvPr/>
        </p:nvGrpSpPr>
        <p:grpSpPr>
          <a:xfrm>
            <a:off x="0" y="1216597"/>
            <a:ext cx="548639" cy="673460"/>
            <a:chOff x="3940602" y="308034"/>
            <a:chExt cx="2116791" cy="3428999"/>
          </a:xfrm>
        </p:grpSpPr>
        <p:sp>
          <p:nvSpPr>
            <p:cNvPr id="304" name="Google Shape;304;p12"/>
            <p:cNvSpPr/>
            <p:nvPr/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12"/>
            <p:cNvSpPr/>
            <p:nvPr/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12"/>
            <p:cNvSpPr/>
            <p:nvPr/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7" name="Google Shape;307;p12"/>
          <p:cNvSpPr/>
          <p:nvPr/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dist="127000" dir="5400000" algn="t" rotWithShape="0">
              <a:srgbClr val="000000">
                <a:alpha val="1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 txBox="1">
            <a:spLocks noGrp="1"/>
          </p:cNvSpPr>
          <p:nvPr>
            <p:ph type="title"/>
          </p:nvPr>
        </p:nvSpPr>
        <p:spPr>
          <a:xfrm>
            <a:off x="843448" y="652148"/>
            <a:ext cx="7457100" cy="15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</a:pPr>
            <a:r>
              <a:rPr lang="en-US" sz="3900" b="1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Thank You</a:t>
            </a:r>
            <a:endParaRPr sz="4100"/>
          </a:p>
        </p:txBody>
      </p:sp>
      <p:cxnSp>
        <p:nvCxnSpPr>
          <p:cNvPr id="309" name="Google Shape;309;p12"/>
          <p:cNvCxnSpPr/>
          <p:nvPr/>
        </p:nvCxnSpPr>
        <p:spPr>
          <a:xfrm rot="10800000">
            <a:off x="628650" y="6485313"/>
            <a:ext cx="7886700" cy="0"/>
          </a:xfrm>
          <a:prstGeom prst="straightConnector1">
            <a:avLst/>
          </a:prstGeom>
          <a:noFill/>
          <a:ln w="571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0" name="Google Shape;310;p12"/>
          <p:cNvSpPr txBox="1">
            <a:spLocks noGrp="1"/>
          </p:cNvSpPr>
          <p:nvPr>
            <p:ph type="title"/>
          </p:nvPr>
        </p:nvSpPr>
        <p:spPr>
          <a:xfrm>
            <a:off x="920023" y="3208073"/>
            <a:ext cx="7457100" cy="15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</a:pPr>
            <a:r>
              <a:rPr lang="en-US" sz="32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Questions &amp; Examination</a:t>
            </a:r>
            <a:endParaRPr sz="34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592</Words>
  <Application>Microsoft Office PowerPoint</Application>
  <PresentationFormat>On-screen Show (4:3)</PresentationFormat>
  <Paragraphs>84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Lexend SemiBold</vt:lpstr>
      <vt:lpstr>Courier New</vt:lpstr>
      <vt:lpstr>Lexend Medium</vt:lpstr>
      <vt:lpstr>Sora</vt:lpstr>
      <vt:lpstr>Arial</vt:lpstr>
      <vt:lpstr>IBM Plex Sans</vt:lpstr>
      <vt:lpstr>Lexend</vt:lpstr>
      <vt:lpstr>Calibri</vt:lpstr>
      <vt:lpstr>Sora SemiBold</vt:lpstr>
      <vt:lpstr>Office Theme</vt:lpstr>
      <vt:lpstr> SnapEats A Local Restaurant Ordering and Delivery System</vt:lpstr>
      <vt:lpstr>Introduction </vt:lpstr>
      <vt:lpstr>PowerPoint Presentation</vt:lpstr>
      <vt:lpstr>PowerPoint Presentation</vt:lpstr>
      <vt:lpstr>PowerPoint Presentation</vt:lpstr>
      <vt:lpstr>PowerPoint Presentation</vt:lpstr>
      <vt:lpstr>User Journey 1 </vt:lpstr>
      <vt:lpstr>User Journey 2 </vt:lpstr>
      <vt:lpstr>2NF Relational Model Diagram</vt:lpstr>
      <vt:lpstr>Landing Page Demo</vt:lpstr>
      <vt:lpstr>User Action Demo</vt:lpstr>
      <vt:lpstr>User Action Demo</vt:lpstr>
      <vt:lpstr>Stored Procedures Demo</vt:lpstr>
      <vt:lpstr>Stored Procedures Demo</vt:lpstr>
      <vt:lpstr>Takeaways</vt:lpstr>
      <vt:lpstr>Extra Credit Work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Sheng-Min Chen</dc:creator>
  <cp:lastModifiedBy>JW</cp:lastModifiedBy>
  <cp:revision>2</cp:revision>
  <dcterms:created xsi:type="dcterms:W3CDTF">2013-01-27T09:14:16Z</dcterms:created>
  <dcterms:modified xsi:type="dcterms:W3CDTF">2025-12-13T03:16:33Z</dcterms:modified>
</cp:coreProperties>
</file>