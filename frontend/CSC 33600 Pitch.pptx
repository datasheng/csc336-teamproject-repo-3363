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5"/>
    <p:sldMasterId id="214748370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Sora SemiBold"/>
      <p:regular r:id="rId26"/>
      <p:bold r:id="rId27"/>
    </p:embeddedFont>
    <p:embeddedFont>
      <p:font typeface="IBM Plex Sans Medium"/>
      <p:regular r:id="rId28"/>
      <p:bold r:id="rId29"/>
      <p:italic r:id="rId30"/>
      <p:boldItalic r:id="rId31"/>
    </p:embeddedFont>
    <p:embeddedFont>
      <p:font typeface="Sora Light"/>
      <p:regular r:id="rId32"/>
      <p:bold r:id="rId33"/>
    </p:embeddedFont>
    <p:embeddedFont>
      <p:font typeface="Sora ExtraLight"/>
      <p:regular r:id="rId34"/>
      <p:bold r:id="rId35"/>
    </p:embeddedFont>
    <p:embeddedFont>
      <p:font typeface="Lexend"/>
      <p:regular r:id="rId36"/>
      <p:bold r:id="rId37"/>
    </p:embeddedFont>
    <p:embeddedFont>
      <p:font typeface="Sora"/>
      <p:regular r:id="rId38"/>
      <p:bold r:id="rId39"/>
    </p:embeddedFont>
    <p:embeddedFont>
      <p:font typeface="Sora Medium"/>
      <p:regular r:id="rId40"/>
      <p:bold r:id="rId41"/>
    </p:embeddedFont>
    <p:embeddedFont>
      <p:font typeface="IBM Plex Sans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16A960-4BEF-4338-9DC5-C642B1035B2A}">
  <a:tblStyle styleId="{4016A960-4BEF-4338-9DC5-C642B1035B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Medium-regular.fntdata"/><Relationship Id="rId42" Type="http://schemas.openxmlformats.org/officeDocument/2006/relationships/font" Target="fonts/IBMPlexSansSemiBold-regular.fntdata"/><Relationship Id="rId41" Type="http://schemas.openxmlformats.org/officeDocument/2006/relationships/font" Target="fonts/SoraMedium-bold.fntdata"/><Relationship Id="rId44" Type="http://schemas.openxmlformats.org/officeDocument/2006/relationships/font" Target="fonts/IBMPlexSansSemiBold-italic.fntdata"/><Relationship Id="rId43" Type="http://schemas.openxmlformats.org/officeDocument/2006/relationships/font" Target="fonts/IBMPlexSansSemiBold-bold.fntdata"/><Relationship Id="rId45" Type="http://schemas.openxmlformats.org/officeDocument/2006/relationships/font" Target="fonts/IBMPlexSans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SansMedium-boldItalic.fntdata"/><Relationship Id="rId30" Type="http://schemas.openxmlformats.org/officeDocument/2006/relationships/font" Target="fonts/IBMPlexSansMedium-italic.fntdata"/><Relationship Id="rId33" Type="http://schemas.openxmlformats.org/officeDocument/2006/relationships/font" Target="fonts/SoraLight-bold.fntdata"/><Relationship Id="rId32" Type="http://schemas.openxmlformats.org/officeDocument/2006/relationships/font" Target="fonts/SoraLight-regular.fntdata"/><Relationship Id="rId35" Type="http://schemas.openxmlformats.org/officeDocument/2006/relationships/font" Target="fonts/SoraExtraLight-bold.fntdata"/><Relationship Id="rId34" Type="http://schemas.openxmlformats.org/officeDocument/2006/relationships/font" Target="fonts/SoraExtraLight-regular.fntdata"/><Relationship Id="rId37" Type="http://schemas.openxmlformats.org/officeDocument/2006/relationships/font" Target="fonts/Lexend-bold.fntdata"/><Relationship Id="rId36" Type="http://schemas.openxmlformats.org/officeDocument/2006/relationships/font" Target="fonts/Lexend-regular.fntdata"/><Relationship Id="rId39" Type="http://schemas.openxmlformats.org/officeDocument/2006/relationships/font" Target="fonts/Sora-bold.fntdata"/><Relationship Id="rId38" Type="http://schemas.openxmlformats.org/officeDocument/2006/relationships/font" Target="fonts/Sora-regular.fntdata"/><Relationship Id="rId20" Type="http://schemas.openxmlformats.org/officeDocument/2006/relationships/slide" Target="slides/slide13.xml"/><Relationship Id="rId22" Type="http://schemas.openxmlformats.org/officeDocument/2006/relationships/font" Target="fonts/IBMPlexSans-regular.fntdata"/><Relationship Id="rId21" Type="http://schemas.openxmlformats.org/officeDocument/2006/relationships/slide" Target="slides/slide14.xml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26" Type="http://schemas.openxmlformats.org/officeDocument/2006/relationships/font" Target="fonts/SoraSemiBold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IBMPlexSansMedium-regular.fntdata"/><Relationship Id="rId27" Type="http://schemas.openxmlformats.org/officeDocument/2006/relationships/font" Target="fonts/SoraSemiBold-bold.fntdata"/><Relationship Id="rId29" Type="http://schemas.openxmlformats.org/officeDocument/2006/relationships/font" Target="fonts/IBMPlexSansMedium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6d021af99b_0_2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6d021af99b_0_2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9f1126a4f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9f1126a4f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9f56acd0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9f56acd0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9f8d9d4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9f8d9d4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6d021af99b_0_2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6d021af99b_0_2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6d021af99b_0_2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6d021af99b_0_2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9f274fc4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9f274fc4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9f463369e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9f463369e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6d021af99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6d021af99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9f274fc43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9f274fc43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9f274fc43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9f274fc43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9f7688fc1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9f7688fc1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6d021af99b_0_3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6d021af99b_0_3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6d021af99b_0_3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6d021af99b_0_3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Csc 33600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Fall 2025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FC5E8"/>
                </a:solidFill>
              </a:rPr>
              <a:t>SnapEats</a:t>
            </a:r>
            <a:endParaRPr b="1">
              <a:solidFill>
                <a:srgbClr val="9FC5E8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Presented By: Fatoumata Drammeh, David Girgis, Qiuming Wang, Xinhang Yang, Md Mamun, Oumar Kante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6" name="Google Shape;936;p63"/>
          <p:cNvSpPr txBox="1"/>
          <p:nvPr/>
        </p:nvSpPr>
        <p:spPr>
          <a:xfrm>
            <a:off x="74600" y="2883000"/>
            <a:ext cx="92769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9FC5E8"/>
                </a:solidFill>
                <a:latin typeface="Lexend"/>
                <a:ea typeface="Lexend"/>
                <a:cs typeface="Lexend"/>
                <a:sym typeface="Lexend"/>
              </a:rPr>
              <a:t>Local Restaurant Ordering and Delivery System</a:t>
            </a:r>
            <a:endParaRPr sz="4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4"/>
          <p:cNvSpPr/>
          <p:nvPr/>
        </p:nvSpPr>
        <p:spPr>
          <a:xfrm rot="10800000">
            <a:off x="1235525" y="2084557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2" name="Google Shape;942;p64"/>
          <p:cNvSpPr/>
          <p:nvPr/>
        </p:nvSpPr>
        <p:spPr>
          <a:xfrm>
            <a:off x="4699363" y="2084557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3" name="Google Shape;943;p64"/>
          <p:cNvSpPr/>
          <p:nvPr/>
        </p:nvSpPr>
        <p:spPr>
          <a:xfrm rot="10800000">
            <a:off x="4672250" y="2084557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4" name="Google Shape;944;p64"/>
          <p:cNvSpPr/>
          <p:nvPr/>
        </p:nvSpPr>
        <p:spPr>
          <a:xfrm>
            <a:off x="1235525" y="2084557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45" name="Google Shape;945;p64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6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947" name="Google Shape;947;p64"/>
          <p:cNvSpPr txBox="1"/>
          <p:nvPr>
            <p:ph type="title"/>
          </p:nvPr>
        </p:nvSpPr>
        <p:spPr>
          <a:xfrm>
            <a:off x="0" y="1339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948" name="Google Shape;948;p64"/>
          <p:cNvSpPr txBox="1"/>
          <p:nvPr>
            <p:ph idx="5" type="title"/>
          </p:nvPr>
        </p:nvSpPr>
        <p:spPr>
          <a:xfrm>
            <a:off x="2920500" y="457200"/>
            <a:ext cx="33030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Member Roles</a:t>
            </a:r>
            <a:endParaRPr sz="3600"/>
          </a:p>
        </p:txBody>
      </p:sp>
      <p:sp>
        <p:nvSpPr>
          <p:cNvPr id="949" name="Google Shape;949;p64"/>
          <p:cNvSpPr txBox="1"/>
          <p:nvPr/>
        </p:nvSpPr>
        <p:spPr>
          <a:xfrm>
            <a:off x="1439363" y="2376607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22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0" name="Google Shape;950;p64"/>
          <p:cNvSpPr txBox="1"/>
          <p:nvPr/>
        </p:nvSpPr>
        <p:spPr>
          <a:xfrm>
            <a:off x="4869875" y="2376657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20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1" name="Google Shape;951;p64"/>
          <p:cNvSpPr txBox="1"/>
          <p:nvPr>
            <p:ph idx="7" type="subTitle"/>
          </p:nvPr>
        </p:nvSpPr>
        <p:spPr>
          <a:xfrm>
            <a:off x="1867950" y="2180582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Front End</a:t>
            </a:r>
            <a:endParaRPr sz="1400"/>
          </a:p>
        </p:txBody>
      </p:sp>
      <p:sp>
        <p:nvSpPr>
          <p:cNvPr id="952" name="Google Shape;952;p64"/>
          <p:cNvSpPr txBox="1"/>
          <p:nvPr>
            <p:ph idx="1" type="body"/>
          </p:nvPr>
        </p:nvSpPr>
        <p:spPr>
          <a:xfrm>
            <a:off x="1867950" y="2523607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Xinhang Yang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Oumar Kante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Md Mamun</a:t>
            </a:r>
            <a:endParaRPr sz="1200"/>
          </a:p>
        </p:txBody>
      </p:sp>
      <p:sp>
        <p:nvSpPr>
          <p:cNvPr id="953" name="Google Shape;953;p64"/>
          <p:cNvSpPr txBox="1"/>
          <p:nvPr>
            <p:ph idx="9" type="subTitle"/>
          </p:nvPr>
        </p:nvSpPr>
        <p:spPr>
          <a:xfrm>
            <a:off x="5297575" y="2180582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Back End</a:t>
            </a:r>
            <a:endParaRPr sz="1400"/>
          </a:p>
        </p:txBody>
      </p:sp>
      <p:sp>
        <p:nvSpPr>
          <p:cNvPr id="954" name="Google Shape;954;p64"/>
          <p:cNvSpPr txBox="1"/>
          <p:nvPr>
            <p:ph idx="3" type="body"/>
          </p:nvPr>
        </p:nvSpPr>
        <p:spPr>
          <a:xfrm>
            <a:off x="5297575" y="2523607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Qiuming Wang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Fatoumata Drammeh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David Girgis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5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960" name="Google Shape;960;p65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961" name="Google Shape;961;p65"/>
          <p:cNvSpPr txBox="1"/>
          <p:nvPr>
            <p:ph idx="20" type="title"/>
          </p:nvPr>
        </p:nvSpPr>
        <p:spPr>
          <a:xfrm>
            <a:off x="1090375" y="343400"/>
            <a:ext cx="7143000" cy="738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</a:rPr>
              <a:t>SnapEats - Business summary</a:t>
            </a:r>
            <a:endParaRPr sz="3600"/>
          </a:p>
        </p:txBody>
      </p:sp>
      <p:sp>
        <p:nvSpPr>
          <p:cNvPr id="962" name="Google Shape;962;p65"/>
          <p:cNvSpPr txBox="1"/>
          <p:nvPr/>
        </p:nvSpPr>
        <p:spPr>
          <a:xfrm>
            <a:off x="5047200" y="1618025"/>
            <a:ext cx="3908700" cy="30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Concept: </a:t>
            </a:r>
            <a:endParaRPr sz="16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An ordering and delivery platform designed for local restaurants where customers can place food orders online, restaurants manage menus and orders, and delivery drivers track and fulfill deliveries in real-time.</a:t>
            </a:r>
            <a:endParaRPr sz="16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3" name="Google Shape;963;p65"/>
          <p:cNvSpPr txBox="1"/>
          <p:nvPr/>
        </p:nvSpPr>
        <p:spPr>
          <a:xfrm>
            <a:off x="462900" y="1591675"/>
            <a:ext cx="4438500" cy="30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Problem: </a:t>
            </a:r>
            <a:endParaRPr sz="16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Local </a:t>
            </a: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Restaurants</a:t>
            </a: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 often lack the      digital infrastructure to manage   online </a:t>
            </a: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orders</a:t>
            </a: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 and deliveries efficiently.</a:t>
            </a:r>
            <a:endParaRPr sz="16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Solution: </a:t>
            </a:r>
            <a:endParaRPr sz="16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Create an affordable, centralized system that connect customers, </a:t>
            </a: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restaurants</a:t>
            </a:r>
            <a:r>
              <a:rPr lang="en" sz="1600">
                <a:solidFill>
                  <a:schemeClr val="accent6"/>
                </a:solidFill>
                <a:latin typeface="Sora"/>
                <a:ea typeface="Sora"/>
                <a:cs typeface="Sora"/>
                <a:sym typeface="Sora"/>
              </a:rPr>
              <a:t>, and delivery drivers, increasing revenue and operational efficiency.</a:t>
            </a:r>
            <a:endParaRPr sz="1600">
              <a:solidFill>
                <a:schemeClr val="accent6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969" name="Google Shape;969;p66"/>
          <p:cNvSpPr txBox="1"/>
          <p:nvPr>
            <p:ph idx="2" type="title"/>
          </p:nvPr>
        </p:nvSpPr>
        <p:spPr>
          <a:xfrm>
            <a:off x="148800" y="342900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Journey</a:t>
            </a:r>
            <a:endParaRPr/>
          </a:p>
        </p:txBody>
      </p:sp>
      <p:graphicFrame>
        <p:nvGraphicFramePr>
          <p:cNvPr id="970" name="Google Shape;970;p66"/>
          <p:cNvGraphicFramePr/>
          <p:nvPr/>
        </p:nvGraphicFramePr>
        <p:xfrm>
          <a:off x="653175" y="163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{4016A960-4BEF-4338-9DC5-C642B1035B2A}</a:tableStyleId>
              </a:tblPr>
              <a:tblGrid>
                <a:gridCol w="1306275"/>
                <a:gridCol w="1306275"/>
                <a:gridCol w="1306275"/>
                <a:gridCol w="1306275"/>
                <a:gridCol w="1306275"/>
                <a:gridCol w="1306275"/>
              </a:tblGrid>
              <a:tr h="59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Objective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Finds Delivery site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Browse </a:t>
                      </a:r>
                      <a:r>
                        <a:rPr lang="en" sz="1200"/>
                        <a:t>local</a:t>
                      </a:r>
                      <a:r>
                        <a:rPr lang="en" sz="1200"/>
                        <a:t> </a:t>
                      </a:r>
                      <a:r>
                        <a:rPr lang="en" sz="1200"/>
                        <a:t>restaurants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Choose where/what to eat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Add items to Cart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Place Order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Receive food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Needs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Easy signup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Clear Purpose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Search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Filter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Review Menus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Prices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Delivery Time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Secure Checkout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Real-time tracking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Feeling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Curious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Hungry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Interested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Confident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Excited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Satisfied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Pain Points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Slow service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Slow process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Too many options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Missing Info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Unsatisfied</a:t>
                      </a:r>
                      <a:r>
                        <a:rPr lang="en" sz="1200"/>
                        <a:t> with options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Payment Issues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Late delivery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  <a:tr h="59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Opportunities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Simple landing page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Personalized per location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Show all info</a:t>
                      </a:r>
                      <a:endParaRPr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Easy backout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One </a:t>
                      </a:r>
                      <a:r>
                        <a:rPr lang="en" sz="1200"/>
                        <a:t>Click</a:t>
                      </a:r>
                      <a:r>
                        <a:rPr lang="en" sz="1200"/>
                        <a:t> checkout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Notification updates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1DFD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A6BD"/>
                    </a:solidFill>
                  </a:tcPr>
                </a:tc>
              </a:tr>
            </a:tbl>
          </a:graphicData>
        </a:graphic>
      </p:graphicFrame>
      <p:sp>
        <p:nvSpPr>
          <p:cNvPr id="971" name="Google Shape;971;p66"/>
          <p:cNvSpPr/>
          <p:nvPr/>
        </p:nvSpPr>
        <p:spPr>
          <a:xfrm>
            <a:off x="1959450" y="1086775"/>
            <a:ext cx="1555500" cy="549600"/>
          </a:xfrm>
          <a:prstGeom prst="chevron">
            <a:avLst>
              <a:gd fmla="val 50000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Discover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2" name="Google Shape;972;p66"/>
          <p:cNvSpPr/>
          <p:nvPr/>
        </p:nvSpPr>
        <p:spPr>
          <a:xfrm>
            <a:off x="658296" y="1086775"/>
            <a:ext cx="1555500" cy="549600"/>
          </a:xfrm>
          <a:prstGeom prst="homePlat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Stage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3" name="Google Shape;973;p66"/>
          <p:cNvSpPr/>
          <p:nvPr/>
        </p:nvSpPr>
        <p:spPr>
          <a:xfrm>
            <a:off x="3269591" y="1086775"/>
            <a:ext cx="1555500" cy="549600"/>
          </a:xfrm>
          <a:prstGeom prst="chevron">
            <a:avLst>
              <a:gd fmla="val 50000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Explore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4" name="Google Shape;974;p66"/>
          <p:cNvSpPr/>
          <p:nvPr/>
        </p:nvSpPr>
        <p:spPr>
          <a:xfrm>
            <a:off x="4579229" y="1086775"/>
            <a:ext cx="1555500" cy="549600"/>
          </a:xfrm>
          <a:prstGeom prst="chevron">
            <a:avLst>
              <a:gd fmla="val 50000" name="adj"/>
            </a:avLst>
          </a:prstGeom>
          <a:solidFill>
            <a:srgbClr val="EFEFEF"/>
          </a:solidFill>
          <a:ln cap="flat" cmpd="sng" w="9525">
            <a:solidFill>
              <a:srgbClr val="E1DF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Decision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5" name="Google Shape;975;p66"/>
          <p:cNvSpPr/>
          <p:nvPr/>
        </p:nvSpPr>
        <p:spPr>
          <a:xfrm>
            <a:off x="5891104" y="1086775"/>
            <a:ext cx="1555500" cy="549600"/>
          </a:xfrm>
          <a:prstGeom prst="chevron">
            <a:avLst>
              <a:gd fmla="val 50000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Commit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6" name="Google Shape;976;p66"/>
          <p:cNvSpPr/>
          <p:nvPr/>
        </p:nvSpPr>
        <p:spPr>
          <a:xfrm>
            <a:off x="7194800" y="1086775"/>
            <a:ext cx="1555500" cy="5496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Complete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982" name="Google Shape;982;p6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983" name="Google Shape;983;p67"/>
          <p:cNvSpPr txBox="1"/>
          <p:nvPr>
            <p:ph type="title"/>
          </p:nvPr>
        </p:nvSpPr>
        <p:spPr>
          <a:xfrm>
            <a:off x="0" y="34300"/>
            <a:ext cx="88194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 End</a:t>
            </a:r>
            <a:r>
              <a:rPr b="1" lang="en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Tech Stack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4" name="Google Shape;984;p67" title="Screenshot 2025-11-01 at 02.46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500" y="787300"/>
            <a:ext cx="2483799" cy="171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67" title="Screenshot 2025-11-01 at 02.48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6600" y="787300"/>
            <a:ext cx="2483800" cy="17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67"/>
          <p:cNvSpPr txBox="1"/>
          <p:nvPr/>
        </p:nvSpPr>
        <p:spPr>
          <a:xfrm>
            <a:off x="484800" y="2497700"/>
            <a:ext cx="2483700" cy="25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E0E0E"/>
                </a:solidFill>
              </a:rPr>
              <a:t>React</a:t>
            </a:r>
            <a:r>
              <a:rPr b="1" lang="en" sz="1050">
                <a:solidFill>
                  <a:srgbClr val="0E0E0E"/>
                </a:solidFill>
              </a:rPr>
              <a:t> </a:t>
            </a:r>
            <a:r>
              <a:rPr b="1" lang="en" sz="1050">
                <a:solidFill>
                  <a:srgbClr val="0E0E0E"/>
                </a:solidFill>
              </a:rPr>
              <a:t>allows developers to create reusable components, manage data efficiently, and update web pages quickly without reloading the whole site.</a:t>
            </a:r>
            <a:endParaRPr b="1"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E0E0E"/>
                </a:solidFill>
              </a:rPr>
              <a:t>Vite</a:t>
            </a:r>
            <a:r>
              <a:rPr b="1" lang="en" sz="1050">
                <a:solidFill>
                  <a:srgbClr val="0E0E0E"/>
                </a:solidFill>
              </a:rPr>
              <a:t> is a modern build tool and development server for React.It provides lightning-fast startup, hot reloading, and optimized performance during development.</a:t>
            </a:r>
            <a:endParaRPr b="1" sz="105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E0E0E"/>
              </a:solidFill>
            </a:endParaRPr>
          </a:p>
        </p:txBody>
      </p:sp>
      <p:sp>
        <p:nvSpPr>
          <p:cNvPr id="987" name="Google Shape;987;p67"/>
          <p:cNvSpPr txBox="1"/>
          <p:nvPr/>
        </p:nvSpPr>
        <p:spPr>
          <a:xfrm>
            <a:off x="2968500" y="2497700"/>
            <a:ext cx="26697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E0E0E"/>
                </a:solidFill>
              </a:rPr>
              <a:t>CSS</a:t>
            </a:r>
            <a:r>
              <a:rPr b="1" lang="en" sz="1050">
                <a:solidFill>
                  <a:srgbClr val="0E0E0E"/>
                </a:solidFill>
              </a:rPr>
              <a:t> controls the look and layout of our website. It defines colors, fonts, spacing, and how the page adapts to different screen sizes.</a:t>
            </a:r>
            <a:endParaRPr b="1" sz="1050">
              <a:solidFill>
                <a:srgbClr val="0E0E0E"/>
              </a:solidFill>
            </a:endParaRPr>
          </a:p>
        </p:txBody>
      </p:sp>
      <p:pic>
        <p:nvPicPr>
          <p:cNvPr id="988" name="Google Shape;988;p67" title="Screenshot 2025-11-01 at 03.00.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3700" y="787300"/>
            <a:ext cx="2447949" cy="17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67"/>
          <p:cNvSpPr txBox="1"/>
          <p:nvPr/>
        </p:nvSpPr>
        <p:spPr>
          <a:xfrm>
            <a:off x="5638200" y="2497700"/>
            <a:ext cx="30000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E0E0E"/>
                </a:solidFill>
              </a:rPr>
              <a:t>Axios</a:t>
            </a:r>
            <a:r>
              <a:rPr b="1" lang="en" sz="1050">
                <a:solidFill>
                  <a:srgbClr val="0E0E0E"/>
                </a:solidFill>
              </a:rPr>
              <a:t> is a JavaScript library used to connect our React frontend with the Flask backend.</a:t>
            </a:r>
            <a:endParaRPr b="1" sz="105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E0E0E"/>
                </a:solidFill>
              </a:rPr>
              <a:t>It allows us to send and receive order data in real time through RESTful APIs.</a:t>
            </a:r>
            <a:endParaRPr b="1" sz="1050">
              <a:solidFill>
                <a:srgbClr val="0E0E0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8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5" name="Google Shape;995;p68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6" name="Google Shape;996;p68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7" name="Google Shape;997;p68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8" name="Google Shape;998;p68"/>
          <p:cNvSpPr/>
          <p:nvPr/>
        </p:nvSpPr>
        <p:spPr>
          <a:xfrm>
            <a:off x="6450481" y="1068125"/>
            <a:ext cx="2006700" cy="3477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77000">
                <a:schemeClr val="accent1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9" name="Google Shape;999;p68"/>
          <p:cNvSpPr txBox="1"/>
          <p:nvPr>
            <p:ph type="title"/>
          </p:nvPr>
        </p:nvSpPr>
        <p:spPr>
          <a:xfrm>
            <a:off x="2576550" y="282450"/>
            <a:ext cx="3990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Full </a:t>
            </a:r>
            <a:r>
              <a:rPr lang="en" sz="3600"/>
              <a:t>Tech Stack</a:t>
            </a:r>
            <a:endParaRPr sz="3600"/>
          </a:p>
        </p:txBody>
      </p:sp>
      <p:sp>
        <p:nvSpPr>
          <p:cNvPr id="1000" name="Google Shape;1000;p68"/>
          <p:cNvSpPr txBox="1"/>
          <p:nvPr>
            <p:ph idx="13" type="subTitle"/>
          </p:nvPr>
        </p:nvSpPr>
        <p:spPr>
          <a:xfrm>
            <a:off x="1095288" y="1768175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</a:rPr>
              <a:t>Front End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001" name="Google Shape;1001;p68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1002" name="Google Shape;1002;p68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1003" name="Google Shape;1003;p68"/>
          <p:cNvSpPr txBox="1"/>
          <p:nvPr>
            <p:ph idx="2" type="subTitle"/>
          </p:nvPr>
        </p:nvSpPr>
        <p:spPr>
          <a:xfrm>
            <a:off x="2938800" y="1768175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</a:rPr>
              <a:t>Back End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004" name="Google Shape;1004;p68"/>
          <p:cNvSpPr txBox="1"/>
          <p:nvPr>
            <p:ph idx="4" type="subTitle"/>
          </p:nvPr>
        </p:nvSpPr>
        <p:spPr>
          <a:xfrm>
            <a:off x="4798644" y="1768175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</a:rPr>
              <a:t>Database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005" name="Google Shape;1005;p68"/>
          <p:cNvSpPr txBox="1"/>
          <p:nvPr>
            <p:ph idx="6" type="subTitle"/>
          </p:nvPr>
        </p:nvSpPr>
        <p:spPr>
          <a:xfrm>
            <a:off x="6655050" y="1768175"/>
            <a:ext cx="16518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Collaboration Tools</a:t>
            </a:r>
            <a:endParaRPr sz="180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006" name="Google Shape;1006;p68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07" name="Google Shape;1007;p68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08" name="Google Shape;1008;p68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09" name="Google Shape;1009;p68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pic>
        <p:nvPicPr>
          <p:cNvPr descr="a blue atom with a circle in the middle on a white background (Provided by Tenor)" id="1010" name="Google Shape;101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400" y="2262023"/>
            <a:ext cx="808254" cy="702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orange mysql logo with a dolphin on it (Provided by Tenor)" id="1011" name="Google Shape;101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200" y="2209602"/>
            <a:ext cx="1583400" cy="944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Flask-horizontal.png - Wikipedia, la enciclopedia libre" id="1012" name="Google Shape;1012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8798" y="2733275"/>
            <a:ext cx="1564499" cy="50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68" title="d05d8d4fd76652f4e10fb1f1c7aefe9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8586" y="2514275"/>
            <a:ext cx="944325" cy="94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itHub logo 2013.svg - Wikimedia Commons" id="1014" name="Google Shape;1014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4848" y="3561751"/>
            <a:ext cx="1651802" cy="44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5138" y="3305524"/>
            <a:ext cx="700768" cy="7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1021" name="Google Shape;1021;p69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1022" name="Google Shape;1022;p69"/>
          <p:cNvSpPr txBox="1"/>
          <p:nvPr>
            <p:ph idx="2" type="title"/>
          </p:nvPr>
        </p:nvSpPr>
        <p:spPr>
          <a:xfrm>
            <a:off x="408375" y="282450"/>
            <a:ext cx="5400000" cy="10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1 – Creating an Order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9"/>
          <p:cNvSpPr txBox="1"/>
          <p:nvPr/>
        </p:nvSpPr>
        <p:spPr>
          <a:xfrm>
            <a:off x="182350" y="725675"/>
            <a:ext cx="7581000" cy="3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🎯 Goal:</a:t>
            </a:r>
            <a:r>
              <a:rPr lang="en"/>
              <a:t>Let the customer place an order successfully.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🧍‍♀️ Actor: </a:t>
            </a:r>
            <a:r>
              <a:rPr lang="en"/>
              <a:t>Customer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🪜 Steps: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logs in and selects a restaurant.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They browse the restaurant’s menu.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adds items to the cart and reviews it.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They confirm and proceed to payment.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system displays an order confirmation message.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⚙️ System Interaction: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React frontend sends order details to the Flask backend through Axios.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Flask stores the order data in the MySQL database.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Backend returns confirmation to the frontend to update the UI.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1029" name="Google Shape;1029;p70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1030" name="Google Shape;1030;p70"/>
          <p:cNvSpPr txBox="1"/>
          <p:nvPr>
            <p:ph idx="2" type="title"/>
          </p:nvPr>
        </p:nvSpPr>
        <p:spPr>
          <a:xfrm>
            <a:off x="417275" y="282450"/>
            <a:ext cx="5400000" cy="15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2 – Browsing Restaurants &amp; Menus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0"/>
          <p:cNvSpPr txBox="1"/>
          <p:nvPr/>
        </p:nvSpPr>
        <p:spPr>
          <a:xfrm>
            <a:off x="128375" y="765900"/>
            <a:ext cx="7581000" cy="3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🎯 </a:t>
            </a:r>
            <a:r>
              <a:rPr b="1" lang="en"/>
              <a:t>Goal:</a:t>
            </a:r>
            <a:r>
              <a:rPr lang="en"/>
              <a:t>Let the customer browse available restaurants and their menus.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🧍‍♀️ </a:t>
            </a:r>
            <a:r>
              <a:rPr b="1" lang="en"/>
              <a:t>Actor: </a:t>
            </a:r>
            <a:r>
              <a:rPr lang="en"/>
              <a:t>Customer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🪜 </a:t>
            </a:r>
            <a:r>
              <a:rPr b="1" lang="en"/>
              <a:t>Steps: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logs in and sets their location.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system displays a list of restaurants nearby.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selects one restaurant to view its menu.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Menu items, descriptions, and prices are shown dynamically.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us</a:t>
            </a:r>
            <a:r>
              <a:rPr lang="en"/>
              <a:t>e</a:t>
            </a:r>
            <a:r>
              <a:rPr lang="en"/>
              <a:t>r can continue browsing or add items to their cart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⚙️ </a:t>
            </a:r>
            <a:r>
              <a:rPr b="1" lang="en"/>
              <a:t>System Interaction: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React frontend requests restaurant data from Flask API.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Flask queries the MySQL database and returns results in JSON format.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React renders the restaurant list and menu on the page.</a:t>
            </a:r>
            <a:br>
              <a:rPr lang="en"/>
            </a:b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7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1037" name="Google Shape;1037;p7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1038" name="Google Shape;1038;p71"/>
          <p:cNvSpPr txBox="1"/>
          <p:nvPr>
            <p:ph idx="2" type="title"/>
          </p:nvPr>
        </p:nvSpPr>
        <p:spPr>
          <a:xfrm>
            <a:off x="381775" y="282450"/>
            <a:ext cx="81645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3 – Creating an Order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71"/>
          <p:cNvSpPr txBox="1"/>
          <p:nvPr/>
        </p:nvSpPr>
        <p:spPr>
          <a:xfrm>
            <a:off x="156475" y="694925"/>
            <a:ext cx="8019900" cy="4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🎯 Goal:</a:t>
            </a:r>
            <a:r>
              <a:rPr lang="en"/>
              <a:t>Let the customer place an order successfully.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🧍‍♂️ Actor: </a:t>
            </a:r>
            <a:r>
              <a:rPr lang="en"/>
              <a:t>Customer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🪜 </a:t>
            </a:r>
            <a:r>
              <a:rPr b="1" lang="en"/>
              <a:t> Steps: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logs in and selects a restaurant.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They browse the restaurant’s menu.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adds items to the cart and reviews it.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They confirm and proceed to payment.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system displays an order confirmation message.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⚙️ System Interaction: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React frontend sends order details to Flask backend.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Flask backend stores data in MySQL database.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backend returns confirmation to the frontend.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1045" name="Google Shape;1045;p72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1046" name="Google Shape;1046;p72"/>
          <p:cNvSpPr txBox="1"/>
          <p:nvPr>
            <p:ph idx="2" type="title"/>
          </p:nvPr>
        </p:nvSpPr>
        <p:spPr>
          <a:xfrm>
            <a:off x="442800" y="282450"/>
            <a:ext cx="8164500" cy="14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4 – Canceling an Order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72"/>
          <p:cNvSpPr txBox="1"/>
          <p:nvPr/>
        </p:nvSpPr>
        <p:spPr>
          <a:xfrm>
            <a:off x="115675" y="746250"/>
            <a:ext cx="8721000" cy="4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🎯 Goal:</a:t>
            </a:r>
            <a:r>
              <a:rPr lang="en"/>
              <a:t>Allow the customer to cancel an order before it’s accepted by the restaurant.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🧍‍♂️ Actor:</a:t>
            </a:r>
            <a:r>
              <a:rPr lang="en"/>
              <a:t>Customer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🪜 </a:t>
            </a:r>
            <a:r>
              <a:rPr b="1" lang="en"/>
              <a:t>Steps: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opens “My Orders” page.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They select an active order.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Click “Cancel Order.”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system updates the order status to “Canceled.”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updated status appears instantly on the frontend.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⚙️ System Interaction: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React sends a cancel request to Flask API.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Flask updates the order status in the database.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Frontend re-renders with the new order state.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7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1053" name="Google Shape;1053;p7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  <p:sp>
        <p:nvSpPr>
          <p:cNvPr id="1054" name="Google Shape;1054;p73"/>
          <p:cNvSpPr txBox="1"/>
          <p:nvPr>
            <p:ph idx="2" type="title"/>
          </p:nvPr>
        </p:nvSpPr>
        <p:spPr>
          <a:xfrm>
            <a:off x="442800" y="282450"/>
            <a:ext cx="8164500" cy="18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5 – Tracking an Order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73"/>
          <p:cNvSpPr txBox="1"/>
          <p:nvPr/>
        </p:nvSpPr>
        <p:spPr>
          <a:xfrm>
            <a:off x="84350" y="775925"/>
            <a:ext cx="7660800" cy="4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🎯 Goal:</a:t>
            </a:r>
            <a:r>
              <a:rPr lang="en"/>
              <a:t>Allow customers to monitor their delivery status in real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🧍‍♂️ Actor:</a:t>
            </a:r>
            <a:r>
              <a:rPr lang="en"/>
              <a:t>Customer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🪜 </a:t>
            </a:r>
            <a:r>
              <a:rPr b="1" lang="en"/>
              <a:t>Steps: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customer opens the “Order Tracking” page.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The frontend displays the current delivery status (e.g., </a:t>
            </a:r>
            <a:r>
              <a:rPr i="1" lang="en"/>
              <a:t>Preparing</a:t>
            </a:r>
            <a:r>
              <a:rPr lang="en"/>
              <a:t>, </a:t>
            </a:r>
            <a:r>
              <a:rPr i="1" lang="en"/>
              <a:t>Out for delivery</a:t>
            </a:r>
            <a:r>
              <a:rPr lang="en"/>
              <a:t>, </a:t>
            </a:r>
            <a:r>
              <a:rPr i="1" lang="en"/>
              <a:t>Completed</a:t>
            </a:r>
            <a:r>
              <a:rPr lang="en"/>
              <a:t>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Status updates automatically as the backend changes the order stage.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Once completed, the app shows “Order Delivered” and an option to rate the restaurant.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⚙️ System Interaction: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Frontend fetches order status updates through API polling or WebSocket.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Backend sends real-time updates from the delivery database.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Frontend displays live progress to the user.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pic>
        <p:nvPicPr>
          <p:cNvPr id="1061" name="Google Shape;106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37" y="655125"/>
            <a:ext cx="8907126" cy="438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74"/>
          <p:cNvSpPr txBox="1"/>
          <p:nvPr>
            <p:ph idx="4294967295" type="title"/>
          </p:nvPr>
        </p:nvSpPr>
        <p:spPr>
          <a:xfrm>
            <a:off x="1245450" y="31875"/>
            <a:ext cx="6350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6"/>
                </a:solidFill>
              </a:rPr>
              <a:t>Relational Data Model (2NF)</a:t>
            </a:r>
            <a:endParaRPr b="1" sz="3600"/>
          </a:p>
        </p:txBody>
      </p:sp>
      <p:sp>
        <p:nvSpPr>
          <p:cNvPr id="1063" name="Google Shape;1063;p74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5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1069" name="Google Shape;1069;p7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 33600</a:t>
            </a:r>
            <a:endParaRPr/>
          </a:p>
        </p:txBody>
      </p:sp>
      <p:sp>
        <p:nvSpPr>
          <p:cNvPr id="1070" name="Google Shape;1070;p7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6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